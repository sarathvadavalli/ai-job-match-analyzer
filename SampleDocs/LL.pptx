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71"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291293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213357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981660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180D86-C89C-4742-9DD4-EE41157902D8}" type="datetimeFigureOut">
              <a:rPr lang="en-IN" smtClean="0"/>
              <a:t>22-09-2022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8907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180D86-C89C-4742-9DD4-EE41157902D8}" type="datetimeFigureOut">
              <a:rPr lang="en-IN" smtClean="0"/>
              <a:t>22-09-2022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2354219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180D86-C89C-4742-9DD4-EE41157902D8}" type="datetimeFigureOut">
              <a:rPr lang="en-IN" smtClean="0"/>
              <a:t>22-09-2022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342950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180D86-C89C-4742-9DD4-EE41157902D8}" type="datetimeFigureOut">
              <a:rPr lang="en-IN" smtClean="0"/>
              <a:t>22-09-2022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620354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180D86-C89C-4742-9DD4-EE41157902D8}" type="datetimeFigureOut">
              <a:rPr lang="en-IN" smtClean="0"/>
              <a:t>22-09-2022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86301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180D86-C89C-4742-9DD4-EE41157902D8}" type="datetimeFigureOut">
              <a:rPr lang="en-IN" smtClean="0"/>
              <a:t>22-09-2022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43708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180D86-C89C-4742-9DD4-EE41157902D8}" type="datetimeFigureOut">
              <a:rPr lang="en-IN" smtClean="0"/>
              <a:t>22-09-2022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3804926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2049067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2159030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647455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474571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543008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488603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180D86-C89C-4742-9DD4-EE41157902D8}" type="datetimeFigureOut">
              <a:rPr lang="en-IN" smtClean="0"/>
              <a:t>22-09-2022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202747-F439-4B0D-9BEC-3D9056D1CC4A}" type="slidenum">
              <a:rPr lang="en-IN" smtClean="0"/>
              <a:t>‹#›</a:t>
            </a:fld>
            <a:endParaRPr lang="en-IN"/>
          </a:p>
        </p:txBody>
      </p:sp>
    </p:spTree>
    <p:extLst>
      <p:ext uri="{BB962C8B-B14F-4D97-AF65-F5344CB8AC3E}">
        <p14:creationId xmlns:p14="http://schemas.microsoft.com/office/powerpoint/2010/main" val="162667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180D86-C89C-4742-9DD4-EE41157902D8}" type="datetimeFigureOut">
              <a:rPr lang="en-IN" smtClean="0"/>
              <a:t>22-09-2022</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2202747-F439-4B0D-9BEC-3D9056D1CC4A}" type="slidenum">
              <a:rPr lang="en-IN" smtClean="0"/>
              <a:t>‹#›</a:t>
            </a:fld>
            <a:endParaRPr lang="en-IN"/>
          </a:p>
        </p:txBody>
      </p:sp>
    </p:spTree>
    <p:extLst>
      <p:ext uri="{BB962C8B-B14F-4D97-AF65-F5344CB8AC3E}">
        <p14:creationId xmlns:p14="http://schemas.microsoft.com/office/powerpoint/2010/main" val="198600643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1FB8C-3AA8-E1BD-8178-9CF2C0CE22AB}"/>
              </a:ext>
            </a:extLst>
          </p:cNvPr>
          <p:cNvSpPr>
            <a:spLocks noGrp="1"/>
          </p:cNvSpPr>
          <p:nvPr>
            <p:ph type="ctrTitle"/>
          </p:nvPr>
        </p:nvSpPr>
        <p:spPr>
          <a:xfrm>
            <a:off x="1981200" y="714585"/>
            <a:ext cx="7936863" cy="2106507"/>
          </a:xfrm>
        </p:spPr>
        <p:txBody>
          <a:bodyPr/>
          <a:lstStyle/>
          <a:p>
            <a:r>
              <a:rPr lang="en-IN" dirty="0">
                <a:solidFill>
                  <a:schemeClr val="accent5">
                    <a:lumMod val="50000"/>
                  </a:schemeClr>
                </a:solidFill>
              </a:rPr>
              <a:t>CIRCULAR SINGLY</a:t>
            </a:r>
            <a:br>
              <a:rPr lang="en-IN" dirty="0">
                <a:solidFill>
                  <a:schemeClr val="accent5">
                    <a:lumMod val="50000"/>
                  </a:schemeClr>
                </a:solidFill>
              </a:rPr>
            </a:br>
            <a:r>
              <a:rPr lang="en-IN" dirty="0">
                <a:solidFill>
                  <a:schemeClr val="accent5">
                    <a:lumMod val="50000"/>
                  </a:schemeClr>
                </a:solidFill>
              </a:rPr>
              <a:t>LINKED LIST</a:t>
            </a:r>
          </a:p>
        </p:txBody>
      </p:sp>
      <p:pic>
        <p:nvPicPr>
          <p:cNvPr id="10242" name="Picture 2" descr="Circular Linked List | Set 2 (Traversal) - GeeksforGeeks">
            <a:extLst>
              <a:ext uri="{FF2B5EF4-FFF2-40B4-BE49-F238E27FC236}">
                <a16:creationId xmlns:a16="http://schemas.microsoft.com/office/drawing/2014/main" id="{3B197CC9-2EAC-6A36-94AA-A7B344BBB9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0449" y="3439161"/>
            <a:ext cx="7246011" cy="1986280"/>
          </a:xfrm>
          <a:prstGeom prst="rect">
            <a:avLst/>
          </a:prstGeom>
          <a:noFill/>
          <a:ln>
            <a:solidFill>
              <a:schemeClr val="accent2">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769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3E22-2C66-3CF6-07A6-6AEAF45DE36F}"/>
              </a:ext>
            </a:extLst>
          </p:cNvPr>
          <p:cNvSpPr>
            <a:spLocks noGrp="1"/>
          </p:cNvSpPr>
          <p:nvPr>
            <p:ph type="title"/>
          </p:nvPr>
        </p:nvSpPr>
        <p:spPr>
          <a:xfrm>
            <a:off x="1484312" y="685800"/>
            <a:ext cx="9122728" cy="1001684"/>
          </a:xfrm>
        </p:spPr>
        <p:txBody>
          <a:bodyPr/>
          <a:lstStyle/>
          <a:p>
            <a:r>
              <a:rPr lang="en-IN" dirty="0">
                <a:solidFill>
                  <a:srgbClr val="C00000"/>
                </a:solidFill>
              </a:rPr>
              <a:t>Introduction</a:t>
            </a:r>
          </a:p>
        </p:txBody>
      </p:sp>
      <p:sp>
        <p:nvSpPr>
          <p:cNvPr id="3" name="Content Placeholder 2">
            <a:extLst>
              <a:ext uri="{FF2B5EF4-FFF2-40B4-BE49-F238E27FC236}">
                <a16:creationId xmlns:a16="http://schemas.microsoft.com/office/drawing/2014/main" id="{1A26EADC-837F-4818-78E9-7B29899F12F6}"/>
              </a:ext>
            </a:extLst>
          </p:cNvPr>
          <p:cNvSpPr>
            <a:spLocks noGrp="1"/>
          </p:cNvSpPr>
          <p:nvPr>
            <p:ph idx="1"/>
          </p:nvPr>
        </p:nvSpPr>
        <p:spPr>
          <a:xfrm>
            <a:off x="1484312" y="1837113"/>
            <a:ext cx="10018711" cy="4335087"/>
          </a:xfrm>
        </p:spPr>
        <p:txBody>
          <a:bodyPr>
            <a:normAutofit/>
          </a:bodyPr>
          <a:lstStyle/>
          <a:p>
            <a:r>
              <a:rPr lang="en-US" dirty="0"/>
              <a:t>Linked list is a dynamic data structure, where the memory is allocated on</a:t>
            </a:r>
          </a:p>
          <a:p>
            <a:pPr marL="0" indent="0">
              <a:buNone/>
            </a:pPr>
            <a:r>
              <a:rPr lang="en-US" dirty="0"/>
              <a:t>    demand.</a:t>
            </a:r>
          </a:p>
          <a:p>
            <a:r>
              <a:rPr lang="en-US" dirty="0"/>
              <a:t>The memory size need not to be specified at the beginning and memory is allocated at run time.</a:t>
            </a:r>
          </a:p>
          <a:p>
            <a:r>
              <a:rPr lang="en-US" dirty="0"/>
              <a:t>It is the main advantage of linked list over the array.</a:t>
            </a:r>
          </a:p>
          <a:p>
            <a:r>
              <a:rPr lang="en-US" b="0" i="0" dirty="0">
                <a:effectLst/>
                <a:latin typeface="euclid_circular_a"/>
              </a:rPr>
              <a:t>A circular linked list is a type of linked list in which the first and the last nodes are also connected to each other to form a circle.</a:t>
            </a:r>
            <a:endParaRPr lang="en-US" dirty="0"/>
          </a:p>
          <a:p>
            <a:r>
              <a:rPr lang="en-IN" dirty="0"/>
              <a:t>Here, the address of first node is stored in the second location of last node instead of NULL.</a:t>
            </a:r>
          </a:p>
        </p:txBody>
      </p:sp>
    </p:spTree>
    <p:extLst>
      <p:ext uri="{BB962C8B-B14F-4D97-AF65-F5344CB8AC3E}">
        <p14:creationId xmlns:p14="http://schemas.microsoft.com/office/powerpoint/2010/main" val="2081675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A776-E6F9-8B4E-BDA9-A1D2C4A0050D}"/>
              </a:ext>
            </a:extLst>
          </p:cNvPr>
          <p:cNvSpPr>
            <a:spLocks noGrp="1"/>
          </p:cNvSpPr>
          <p:nvPr>
            <p:ph type="title"/>
          </p:nvPr>
        </p:nvSpPr>
        <p:spPr>
          <a:xfrm>
            <a:off x="1484311" y="685801"/>
            <a:ext cx="10018713" cy="1367444"/>
          </a:xfrm>
        </p:spPr>
        <p:txBody>
          <a:bodyPr/>
          <a:lstStyle/>
          <a:p>
            <a:r>
              <a:rPr lang="en-IN" dirty="0">
                <a:solidFill>
                  <a:srgbClr val="C00000"/>
                </a:solidFill>
              </a:rPr>
              <a:t>Insertion operations</a:t>
            </a:r>
          </a:p>
        </p:txBody>
      </p:sp>
      <p:sp>
        <p:nvSpPr>
          <p:cNvPr id="3" name="Content Placeholder 2">
            <a:extLst>
              <a:ext uri="{FF2B5EF4-FFF2-40B4-BE49-F238E27FC236}">
                <a16:creationId xmlns:a16="http://schemas.microsoft.com/office/drawing/2014/main" id="{3E898A6B-13DE-0ADA-13E8-5FECAB55EE39}"/>
              </a:ext>
            </a:extLst>
          </p:cNvPr>
          <p:cNvSpPr>
            <a:spLocks noGrp="1"/>
          </p:cNvSpPr>
          <p:nvPr>
            <p:ph idx="1"/>
          </p:nvPr>
        </p:nvSpPr>
        <p:spPr>
          <a:xfrm>
            <a:off x="1787236" y="2302626"/>
            <a:ext cx="9832165" cy="4239490"/>
          </a:xfrm>
        </p:spPr>
        <p:txBody>
          <a:bodyPr>
            <a:normAutofit fontScale="85000" lnSpcReduction="20000"/>
          </a:bodyPr>
          <a:lstStyle/>
          <a:p>
            <a:r>
              <a:rPr lang="en-US" dirty="0"/>
              <a:t>A new node can be inserted at any position in the list, however we are considering three    distinct cases:</a:t>
            </a:r>
          </a:p>
          <a:p>
            <a:pPr marL="0" indent="0">
              <a:buNone/>
            </a:pPr>
            <a:r>
              <a:rPr lang="en-US" dirty="0"/>
              <a:t>      1. Insertion at beginning</a:t>
            </a:r>
          </a:p>
          <a:p>
            <a:pPr marL="0" indent="0">
              <a:buNone/>
            </a:pPr>
            <a:r>
              <a:rPr lang="en-US" dirty="0"/>
              <a:t>       2. Insertion at last</a:t>
            </a:r>
          </a:p>
          <a:p>
            <a:pPr marL="0" indent="0">
              <a:buNone/>
            </a:pPr>
            <a:r>
              <a:rPr lang="en-US" dirty="0"/>
              <a:t>       3. Insertion at a specific node based on</a:t>
            </a:r>
          </a:p>
          <a:p>
            <a:pPr lvl="1">
              <a:buSzPct val="100000"/>
              <a:buFont typeface="Wingdings" panose="05000000000000000000" pitchFamily="2" charset="2"/>
              <a:buChar char="ü"/>
            </a:pPr>
            <a:r>
              <a:rPr lang="en-US" sz="2400" dirty="0"/>
              <a:t> Key</a:t>
            </a:r>
          </a:p>
          <a:p>
            <a:pPr lvl="1">
              <a:buSzPct val="100000"/>
              <a:buFont typeface="Wingdings" panose="05000000000000000000" pitchFamily="2" charset="2"/>
              <a:buChar char="ü"/>
            </a:pPr>
            <a:r>
              <a:rPr lang="en-US" sz="2400" dirty="0"/>
              <a:t> Position/Index of node  </a:t>
            </a:r>
          </a:p>
          <a:p>
            <a:pPr marL="457200" lvl="1" indent="0">
              <a:buSzPct val="100000"/>
              <a:buNone/>
            </a:pPr>
            <a:endParaRPr lang="en-US" dirty="0"/>
          </a:p>
          <a:p>
            <a:pPr algn="l"/>
            <a:r>
              <a:rPr lang="en-US" b="0" i="0" dirty="0">
                <a:effectLst/>
                <a:latin typeface="euclid_circular_a"/>
              </a:rPr>
              <a:t>The first step is to insert a new node:</a:t>
            </a:r>
          </a:p>
          <a:p>
            <a:pPr lvl="1">
              <a:buSzPct val="100000"/>
              <a:buFont typeface="Wingdings" panose="05000000000000000000" pitchFamily="2" charset="2"/>
              <a:buChar char="ü"/>
            </a:pPr>
            <a:r>
              <a:rPr lang="en-US" b="0" i="0" dirty="0">
                <a:effectLst/>
                <a:latin typeface="euclid_circular_a"/>
              </a:rPr>
              <a:t> </a:t>
            </a:r>
            <a:r>
              <a:rPr lang="en-US" sz="2300" b="0" i="0" dirty="0">
                <a:effectLst/>
                <a:latin typeface="euclid_circular_a"/>
              </a:rPr>
              <a:t>allocate memory for the new node</a:t>
            </a:r>
          </a:p>
          <a:p>
            <a:pPr lvl="1">
              <a:buSzPct val="100000"/>
              <a:buFont typeface="Wingdings" panose="05000000000000000000" pitchFamily="2" charset="2"/>
              <a:buChar char="ü"/>
            </a:pPr>
            <a:r>
              <a:rPr lang="en-US" sz="2300" b="0" i="0" dirty="0">
                <a:effectLst/>
                <a:latin typeface="euclid_circular_a"/>
              </a:rPr>
              <a:t>Assign the data to new node</a:t>
            </a:r>
          </a:p>
          <a:p>
            <a:pPr lvl="1">
              <a:buSzPct val="100000"/>
              <a:buFont typeface="Wingdings" panose="05000000000000000000" pitchFamily="2" charset="2"/>
              <a:buChar char="ü"/>
            </a:pPr>
            <a:endParaRPr lang="en-US" b="0" i="0" dirty="0">
              <a:effectLst/>
              <a:latin typeface="euclid_circular_a"/>
            </a:endParaRPr>
          </a:p>
          <a:p>
            <a:pPr marL="457200" lvl="1" indent="0">
              <a:buSzPct val="100000"/>
              <a:buNone/>
            </a:pPr>
            <a:endParaRPr lang="en-US" dirty="0"/>
          </a:p>
        </p:txBody>
      </p:sp>
      <p:sp>
        <p:nvSpPr>
          <p:cNvPr id="7" name="Content Placeholder 2">
            <a:extLst>
              <a:ext uri="{FF2B5EF4-FFF2-40B4-BE49-F238E27FC236}">
                <a16:creationId xmlns:a16="http://schemas.microsoft.com/office/drawing/2014/main" id="{B88CFBFE-8A00-4F42-5735-CD78C142FEEB}"/>
              </a:ext>
            </a:extLst>
          </p:cNvPr>
          <p:cNvSpPr txBox="1">
            <a:spLocks/>
          </p:cNvSpPr>
          <p:nvPr/>
        </p:nvSpPr>
        <p:spPr>
          <a:xfrm>
            <a:off x="856209" y="4463936"/>
            <a:ext cx="9832165" cy="3796145"/>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lvl="1">
              <a:buSzPct val="100000"/>
              <a:buFont typeface="Wingdings" panose="05000000000000000000" pitchFamily="2" charset="2"/>
              <a:buChar char="ü"/>
            </a:pPr>
            <a:endParaRPr lang="en-US" dirty="0"/>
          </a:p>
        </p:txBody>
      </p:sp>
    </p:spTree>
    <p:extLst>
      <p:ext uri="{BB962C8B-B14F-4D97-AF65-F5344CB8AC3E}">
        <p14:creationId xmlns:p14="http://schemas.microsoft.com/office/powerpoint/2010/main" val="196461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D06C1A-50DC-EC0B-1127-3BFE0652E91A}"/>
              </a:ext>
            </a:extLst>
          </p:cNvPr>
          <p:cNvSpPr>
            <a:spLocks noGrp="1"/>
          </p:cNvSpPr>
          <p:nvPr>
            <p:ph idx="1"/>
          </p:nvPr>
        </p:nvSpPr>
        <p:spPr>
          <a:xfrm>
            <a:off x="1615440" y="213360"/>
            <a:ext cx="10008579" cy="6597996"/>
          </a:xfrm>
        </p:spPr>
        <p:txBody>
          <a:bodyPr>
            <a:normAutofit/>
          </a:bodyPr>
          <a:lstStyle/>
          <a:p>
            <a:r>
              <a:rPr lang="en-US" sz="2000" dirty="0"/>
              <a:t>In circular linked list, the insert operation requires traversing the entire list, as we need to change the next field of the last node and make it to point towards head pointer.</a:t>
            </a:r>
          </a:p>
          <a:p>
            <a:r>
              <a:rPr lang="en-US" sz="2000" dirty="0"/>
              <a:t>We create a class which consists of data part and address of next node.</a:t>
            </a:r>
          </a:p>
          <a:p>
            <a:pPr marL="0" indent="0">
              <a:buNone/>
            </a:pPr>
            <a:r>
              <a:rPr lang="en-US" sz="1900" dirty="0"/>
              <a:t>      class node</a:t>
            </a:r>
          </a:p>
          <a:p>
            <a:pPr marL="0" indent="0">
              <a:buNone/>
            </a:pPr>
            <a:r>
              <a:rPr lang="en-US" sz="1900" dirty="0"/>
              <a:t>      {</a:t>
            </a:r>
          </a:p>
          <a:p>
            <a:pPr marL="0" indent="0">
              <a:buNone/>
            </a:pPr>
            <a:r>
              <a:rPr lang="en-US" sz="1900" dirty="0"/>
              <a:t>        public:</a:t>
            </a:r>
          </a:p>
          <a:p>
            <a:pPr marL="0" indent="0">
              <a:buNone/>
            </a:pPr>
            <a:r>
              <a:rPr lang="en-US" sz="1900" dirty="0"/>
              <a:t>            int data;</a:t>
            </a:r>
          </a:p>
          <a:p>
            <a:pPr marL="0" indent="0">
              <a:buNone/>
            </a:pPr>
            <a:r>
              <a:rPr lang="en-US" sz="1900" dirty="0"/>
              <a:t>            node* next;</a:t>
            </a:r>
          </a:p>
          <a:p>
            <a:pPr marL="0" indent="0">
              <a:buNone/>
            </a:pPr>
            <a:r>
              <a:rPr lang="en-US" sz="1900" dirty="0"/>
              <a:t>       };</a:t>
            </a:r>
          </a:p>
          <a:p>
            <a:r>
              <a:rPr lang="en-US" sz="1900" b="0" i="0" dirty="0">
                <a:effectLst/>
                <a:latin typeface="euclid_circular_a"/>
              </a:rPr>
              <a:t>We allocate memory for the new node using keyword “new”.</a:t>
            </a:r>
            <a:endParaRPr lang="en-US" sz="1900" dirty="0"/>
          </a:p>
          <a:p>
            <a:pPr marL="0" indent="0">
              <a:buNone/>
            </a:pPr>
            <a:r>
              <a:rPr lang="en-US" sz="1900" dirty="0"/>
              <a:t>       node *New = new node();</a:t>
            </a:r>
          </a:p>
          <a:p>
            <a:pPr marL="0" indent="0">
              <a:buNone/>
            </a:pPr>
            <a:r>
              <a:rPr lang="en-US" sz="1900" dirty="0"/>
              <a:t>       </a:t>
            </a:r>
            <a:r>
              <a:rPr lang="en-US" sz="1900" dirty="0" err="1"/>
              <a:t>cin</a:t>
            </a:r>
            <a:r>
              <a:rPr lang="en-US" sz="1900" dirty="0"/>
              <a:t>&gt;&gt;New-&gt;data;</a:t>
            </a:r>
          </a:p>
          <a:p>
            <a:pPr marL="0" indent="0">
              <a:buNone/>
            </a:pPr>
            <a:r>
              <a:rPr lang="en-US" sz="1900" dirty="0"/>
              <a:t>       New-&gt;next = NULL;</a:t>
            </a:r>
          </a:p>
          <a:p>
            <a:pPr marL="0" indent="0">
              <a:buNone/>
            </a:pPr>
            <a:endParaRPr lang="en-IN" dirty="0"/>
          </a:p>
        </p:txBody>
      </p:sp>
    </p:spTree>
    <p:extLst>
      <p:ext uri="{BB962C8B-B14F-4D97-AF65-F5344CB8AC3E}">
        <p14:creationId xmlns:p14="http://schemas.microsoft.com/office/powerpoint/2010/main" val="236943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EA7FD-5896-7E39-F1F6-87E13F22BB66}"/>
              </a:ext>
            </a:extLst>
          </p:cNvPr>
          <p:cNvSpPr>
            <a:spLocks noGrp="1"/>
          </p:cNvSpPr>
          <p:nvPr>
            <p:ph type="title"/>
          </p:nvPr>
        </p:nvSpPr>
        <p:spPr>
          <a:xfrm>
            <a:off x="1372551" y="198120"/>
            <a:ext cx="9172605" cy="1084811"/>
          </a:xfrm>
        </p:spPr>
        <p:txBody>
          <a:bodyPr/>
          <a:lstStyle/>
          <a:p>
            <a:r>
              <a:rPr lang="en-IN" dirty="0">
                <a:solidFill>
                  <a:schemeClr val="accent5">
                    <a:lumMod val="75000"/>
                  </a:schemeClr>
                </a:solidFill>
              </a:rPr>
              <a:t>   Pseudo code for insertion at beginning</a:t>
            </a:r>
          </a:p>
        </p:txBody>
      </p:sp>
      <p:sp>
        <p:nvSpPr>
          <p:cNvPr id="3" name="Content Placeholder 2">
            <a:extLst>
              <a:ext uri="{FF2B5EF4-FFF2-40B4-BE49-F238E27FC236}">
                <a16:creationId xmlns:a16="http://schemas.microsoft.com/office/drawing/2014/main" id="{E8BD7E82-3BC3-6E81-8BA6-E06AAC945D0F}"/>
              </a:ext>
            </a:extLst>
          </p:cNvPr>
          <p:cNvSpPr>
            <a:spLocks noGrp="1"/>
          </p:cNvSpPr>
          <p:nvPr>
            <p:ph idx="1"/>
          </p:nvPr>
        </p:nvSpPr>
        <p:spPr>
          <a:xfrm>
            <a:off x="1646844" y="904240"/>
            <a:ext cx="10211779" cy="6299200"/>
          </a:xfrm>
        </p:spPr>
        <p:txBody>
          <a:bodyPr>
            <a:normAutofit fontScale="47500" lnSpcReduction="20000"/>
          </a:bodyPr>
          <a:lstStyle/>
          <a:p>
            <a:pPr marL="0" indent="0" algn="just">
              <a:buNone/>
            </a:pPr>
            <a:endParaRPr lang="en-US" sz="2900" dirty="0">
              <a:solidFill>
                <a:srgbClr val="000000"/>
              </a:solidFill>
              <a:latin typeface="inter-regular"/>
            </a:endParaRPr>
          </a:p>
          <a:p>
            <a:pPr marL="0" indent="0" algn="just">
              <a:buNone/>
            </a:pPr>
            <a:r>
              <a:rPr lang="en-US" sz="4200" dirty="0">
                <a:solidFill>
                  <a:srgbClr val="000000"/>
                </a:solidFill>
                <a:latin typeface="inter-regular"/>
              </a:rPr>
              <a:t>if(he</a:t>
            </a:r>
            <a:r>
              <a:rPr lang="en-US" sz="4200" b="0" i="0" dirty="0">
                <a:solidFill>
                  <a:srgbClr val="000000"/>
                </a:solidFill>
                <a:effectLst/>
                <a:latin typeface="inter-regular"/>
              </a:rPr>
              <a:t>ad == NULL)  </a:t>
            </a:r>
          </a:p>
          <a:p>
            <a:pPr marL="0" indent="0" algn="just">
              <a:buNone/>
            </a:pPr>
            <a:r>
              <a:rPr lang="en-US" sz="4200" b="0" i="0" dirty="0">
                <a:solidFill>
                  <a:srgbClr val="000000"/>
                </a:solidFill>
                <a:effectLst/>
                <a:latin typeface="inter-regular"/>
              </a:rPr>
              <a:t>{             </a:t>
            </a:r>
          </a:p>
          <a:p>
            <a:pPr marL="0" indent="0" algn="just">
              <a:buNone/>
            </a:pPr>
            <a:r>
              <a:rPr lang="en-US" sz="4200" dirty="0">
                <a:solidFill>
                  <a:srgbClr val="000000"/>
                </a:solidFill>
                <a:latin typeface="inter-regular"/>
              </a:rPr>
              <a:t>     </a:t>
            </a:r>
            <a:r>
              <a:rPr lang="en-US" sz="4200" b="0" i="0" dirty="0">
                <a:solidFill>
                  <a:srgbClr val="000000"/>
                </a:solidFill>
                <a:effectLst/>
                <a:latin typeface="inter-regular"/>
              </a:rPr>
              <a:t>head = New;  </a:t>
            </a:r>
          </a:p>
          <a:p>
            <a:pPr marL="0" indent="0" algn="just">
              <a:buNone/>
            </a:pPr>
            <a:r>
              <a:rPr lang="en-US" sz="4200" b="0" i="0" dirty="0">
                <a:solidFill>
                  <a:srgbClr val="000000"/>
                </a:solidFill>
                <a:effectLst/>
                <a:latin typeface="inter-regular"/>
              </a:rPr>
              <a:t>      New -&gt; next = head;                  </a:t>
            </a:r>
          </a:p>
          <a:p>
            <a:pPr marL="0" indent="0" algn="just">
              <a:buNone/>
            </a:pPr>
            <a:r>
              <a:rPr lang="en-US" sz="4200" b="0" i="0" dirty="0">
                <a:solidFill>
                  <a:srgbClr val="000000"/>
                </a:solidFill>
                <a:effectLst/>
                <a:latin typeface="inter-regular"/>
              </a:rPr>
              <a:t> }  </a:t>
            </a:r>
          </a:p>
          <a:p>
            <a:pPr marL="0" indent="0" algn="just">
              <a:buNone/>
            </a:pPr>
            <a:r>
              <a:rPr lang="en-US" sz="4200" dirty="0">
                <a:solidFill>
                  <a:srgbClr val="000000"/>
                </a:solidFill>
                <a:latin typeface="inter-regular"/>
              </a:rPr>
              <a:t>else</a:t>
            </a:r>
          </a:p>
          <a:p>
            <a:pPr marL="0" indent="0" algn="just">
              <a:buNone/>
            </a:pPr>
            <a:r>
              <a:rPr lang="en-US" sz="4200" dirty="0">
                <a:solidFill>
                  <a:srgbClr val="000000"/>
                </a:solidFill>
                <a:latin typeface="inter-regular"/>
              </a:rPr>
              <a:t>{</a:t>
            </a:r>
          </a:p>
          <a:p>
            <a:pPr marL="0" indent="0" algn="just">
              <a:buNone/>
            </a:pPr>
            <a:r>
              <a:rPr lang="en-US" sz="4200" b="0" i="0" dirty="0">
                <a:solidFill>
                  <a:srgbClr val="000000"/>
                </a:solidFill>
                <a:effectLst/>
                <a:latin typeface="inter-regular"/>
              </a:rPr>
              <a:t>   node *p = head;  </a:t>
            </a:r>
          </a:p>
          <a:p>
            <a:pPr marL="0" indent="0" algn="just">
              <a:buNone/>
            </a:pPr>
            <a:r>
              <a:rPr lang="en-US" sz="4200" dirty="0">
                <a:solidFill>
                  <a:srgbClr val="000000"/>
                </a:solidFill>
                <a:latin typeface="inter-regular"/>
              </a:rPr>
              <a:t>   while(p</a:t>
            </a:r>
            <a:r>
              <a:rPr lang="en-US" sz="4200" b="0" i="0" dirty="0">
                <a:solidFill>
                  <a:srgbClr val="000000"/>
                </a:solidFill>
                <a:effectLst/>
                <a:latin typeface="inter-regular"/>
              </a:rPr>
              <a:t>-&gt;next != head)                 </a:t>
            </a:r>
          </a:p>
          <a:p>
            <a:pPr marL="0" indent="0" algn="just">
              <a:buNone/>
            </a:pPr>
            <a:r>
              <a:rPr lang="en-US" sz="4200" b="0" i="0" dirty="0">
                <a:solidFill>
                  <a:srgbClr val="000000"/>
                </a:solidFill>
                <a:effectLst/>
                <a:latin typeface="inter-regular"/>
              </a:rPr>
              <a:t>             p = p-&gt;next;  </a:t>
            </a:r>
          </a:p>
          <a:p>
            <a:pPr marL="0" indent="0" algn="just">
              <a:buNone/>
            </a:pPr>
            <a:r>
              <a:rPr lang="en-US" sz="4200" dirty="0">
                <a:solidFill>
                  <a:srgbClr val="000000"/>
                </a:solidFill>
                <a:latin typeface="inter-regular"/>
              </a:rPr>
              <a:t>   p-&gt;next = New;</a:t>
            </a:r>
          </a:p>
          <a:p>
            <a:pPr marL="0" indent="0" algn="just">
              <a:buNone/>
            </a:pPr>
            <a:r>
              <a:rPr lang="en-US" sz="4200" b="0" i="0" dirty="0">
                <a:solidFill>
                  <a:srgbClr val="000000"/>
                </a:solidFill>
                <a:effectLst/>
                <a:latin typeface="inter-regular"/>
              </a:rPr>
              <a:t>   New-&gt;next = head;</a:t>
            </a:r>
          </a:p>
          <a:p>
            <a:pPr marL="0" indent="0" algn="just">
              <a:buNone/>
            </a:pPr>
            <a:r>
              <a:rPr lang="en-US" sz="4200" dirty="0">
                <a:solidFill>
                  <a:srgbClr val="000000"/>
                </a:solidFill>
                <a:latin typeface="inter-regular"/>
              </a:rPr>
              <a:t>   head = New;</a:t>
            </a:r>
            <a:endParaRPr lang="en-US" sz="4200" b="0" i="0" dirty="0">
              <a:solidFill>
                <a:srgbClr val="000000"/>
              </a:solidFill>
              <a:effectLst/>
              <a:latin typeface="inter-regular"/>
            </a:endParaRPr>
          </a:p>
          <a:p>
            <a:pPr marL="0" indent="0" algn="just">
              <a:buNone/>
            </a:pPr>
            <a:r>
              <a:rPr lang="en-US" sz="4200" dirty="0">
                <a:solidFill>
                  <a:srgbClr val="000000"/>
                </a:solidFill>
                <a:latin typeface="inter-regular"/>
              </a:rPr>
              <a:t>}</a:t>
            </a:r>
          </a:p>
          <a:p>
            <a:pPr marL="0" indent="0" algn="just">
              <a:buNone/>
            </a:pPr>
            <a:endParaRPr lang="en-US" sz="3600" b="0" i="0" dirty="0">
              <a:solidFill>
                <a:srgbClr val="000000"/>
              </a:solidFill>
              <a:effectLst/>
              <a:latin typeface="inter-regular"/>
            </a:endParaRPr>
          </a:p>
          <a:p>
            <a:endParaRPr lang="en-IN" dirty="0"/>
          </a:p>
        </p:txBody>
      </p:sp>
      <p:pic>
        <p:nvPicPr>
          <p:cNvPr id="3074" name="Picture 2" descr="Insertion At Begining in Circular linked list">
            <a:extLst>
              <a:ext uri="{FF2B5EF4-FFF2-40B4-BE49-F238E27FC236}">
                <a16:creationId xmlns:a16="http://schemas.microsoft.com/office/drawing/2014/main" id="{0D27E3C9-3371-32F6-7FBA-2FE0C4CA9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5537" y="2392680"/>
            <a:ext cx="7046566" cy="2758440"/>
          </a:xfrm>
          <a:prstGeom prst="rect">
            <a:avLst/>
          </a:prstGeom>
          <a:solidFill>
            <a:srgbClr val="00B050"/>
          </a:solidFill>
          <a:ln>
            <a:solidFill>
              <a:srgbClr val="002060"/>
            </a:solidFill>
          </a:ln>
        </p:spPr>
      </p:pic>
    </p:spTree>
    <p:extLst>
      <p:ext uri="{BB962C8B-B14F-4D97-AF65-F5344CB8AC3E}">
        <p14:creationId xmlns:p14="http://schemas.microsoft.com/office/powerpoint/2010/main" val="3359570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51FD5-0BEC-F524-3F4C-45E058C9821D}"/>
              </a:ext>
            </a:extLst>
          </p:cNvPr>
          <p:cNvSpPr>
            <a:spLocks noGrp="1"/>
          </p:cNvSpPr>
          <p:nvPr>
            <p:ph type="title"/>
          </p:nvPr>
        </p:nvSpPr>
        <p:spPr>
          <a:xfrm>
            <a:off x="1291271" y="177801"/>
            <a:ext cx="10018713" cy="1021079"/>
          </a:xfrm>
        </p:spPr>
        <p:txBody>
          <a:bodyPr/>
          <a:lstStyle/>
          <a:p>
            <a:r>
              <a:rPr lang="en-IN" dirty="0">
                <a:solidFill>
                  <a:schemeClr val="accent5">
                    <a:lumMod val="75000"/>
                  </a:schemeClr>
                </a:solidFill>
              </a:rPr>
              <a:t>Pseudo code for insertion at end</a:t>
            </a:r>
          </a:p>
        </p:txBody>
      </p:sp>
      <p:sp>
        <p:nvSpPr>
          <p:cNvPr id="3" name="Content Placeholder 2">
            <a:extLst>
              <a:ext uri="{FF2B5EF4-FFF2-40B4-BE49-F238E27FC236}">
                <a16:creationId xmlns:a16="http://schemas.microsoft.com/office/drawing/2014/main" id="{DF5D90C6-3FFA-4FA2-271C-72EF3498B227}"/>
              </a:ext>
            </a:extLst>
          </p:cNvPr>
          <p:cNvSpPr>
            <a:spLocks noGrp="1"/>
          </p:cNvSpPr>
          <p:nvPr>
            <p:ph idx="1"/>
          </p:nvPr>
        </p:nvSpPr>
        <p:spPr>
          <a:xfrm>
            <a:off x="1778000" y="1361440"/>
            <a:ext cx="9918063" cy="5161280"/>
          </a:xfrm>
        </p:spPr>
        <p:txBody>
          <a:bodyPr>
            <a:normAutofit fontScale="85000" lnSpcReduction="20000"/>
          </a:bodyPr>
          <a:lstStyle/>
          <a:p>
            <a:pPr marL="0" indent="0" algn="just">
              <a:buNone/>
            </a:pPr>
            <a:r>
              <a:rPr lang="en-US" sz="2400" dirty="0">
                <a:solidFill>
                  <a:srgbClr val="000000"/>
                </a:solidFill>
                <a:latin typeface="inter-regular"/>
              </a:rPr>
              <a:t>if(he</a:t>
            </a:r>
            <a:r>
              <a:rPr lang="en-US" sz="2400" b="0" i="0" dirty="0">
                <a:solidFill>
                  <a:srgbClr val="000000"/>
                </a:solidFill>
                <a:effectLst/>
                <a:latin typeface="inter-regular"/>
              </a:rPr>
              <a:t>ad == NULL)  </a:t>
            </a:r>
          </a:p>
          <a:p>
            <a:pPr marL="0" indent="0" algn="just">
              <a:buNone/>
            </a:pPr>
            <a:r>
              <a:rPr lang="en-US" sz="2400" b="0" i="0" dirty="0">
                <a:solidFill>
                  <a:srgbClr val="000000"/>
                </a:solidFill>
                <a:effectLst/>
                <a:latin typeface="inter-regular"/>
              </a:rPr>
              <a:t>{             </a:t>
            </a:r>
          </a:p>
          <a:p>
            <a:pPr marL="0" indent="0" algn="just">
              <a:buNone/>
            </a:pPr>
            <a:r>
              <a:rPr lang="en-US" sz="2400" dirty="0">
                <a:solidFill>
                  <a:srgbClr val="000000"/>
                </a:solidFill>
                <a:latin typeface="inter-regular"/>
              </a:rPr>
              <a:t>     </a:t>
            </a:r>
            <a:r>
              <a:rPr lang="en-US" sz="2400" b="0" i="0" dirty="0">
                <a:solidFill>
                  <a:srgbClr val="000000"/>
                </a:solidFill>
                <a:effectLst/>
                <a:latin typeface="inter-regular"/>
              </a:rPr>
              <a:t>head = New;  </a:t>
            </a:r>
          </a:p>
          <a:p>
            <a:pPr marL="0" indent="0" algn="just">
              <a:buNone/>
            </a:pPr>
            <a:r>
              <a:rPr lang="en-US" sz="2400" b="0" i="0" dirty="0">
                <a:solidFill>
                  <a:srgbClr val="000000"/>
                </a:solidFill>
                <a:effectLst/>
                <a:latin typeface="inter-regular"/>
              </a:rPr>
              <a:t>      New -&gt; next = head;                             </a:t>
            </a:r>
          </a:p>
          <a:p>
            <a:pPr marL="0" indent="0" algn="just">
              <a:buNone/>
            </a:pPr>
            <a:r>
              <a:rPr lang="en-US" sz="2400" b="0" i="0" dirty="0">
                <a:solidFill>
                  <a:srgbClr val="000000"/>
                </a:solidFill>
                <a:effectLst/>
                <a:latin typeface="inter-regular"/>
              </a:rPr>
              <a:t> }  </a:t>
            </a:r>
          </a:p>
          <a:p>
            <a:pPr marL="0" indent="0" algn="just">
              <a:buNone/>
            </a:pPr>
            <a:r>
              <a:rPr lang="en-US" sz="2400" dirty="0">
                <a:solidFill>
                  <a:srgbClr val="000000"/>
                </a:solidFill>
                <a:latin typeface="inter-regular"/>
              </a:rPr>
              <a:t>else</a:t>
            </a:r>
          </a:p>
          <a:p>
            <a:pPr marL="0" indent="0" algn="just">
              <a:buNone/>
            </a:pPr>
            <a:r>
              <a:rPr lang="en-US" sz="2400" dirty="0">
                <a:solidFill>
                  <a:srgbClr val="000000"/>
                </a:solidFill>
                <a:latin typeface="inter-regular"/>
              </a:rPr>
              <a:t>{</a:t>
            </a:r>
          </a:p>
          <a:p>
            <a:pPr marL="0" indent="0" algn="just">
              <a:buNone/>
            </a:pPr>
            <a:r>
              <a:rPr lang="en-US" sz="2400" b="0" i="0" dirty="0">
                <a:solidFill>
                  <a:srgbClr val="000000"/>
                </a:solidFill>
                <a:effectLst/>
                <a:latin typeface="inter-regular"/>
              </a:rPr>
              <a:t>   node *p = head;  </a:t>
            </a:r>
          </a:p>
          <a:p>
            <a:pPr marL="0" indent="0" algn="just">
              <a:buNone/>
            </a:pPr>
            <a:r>
              <a:rPr lang="en-US" sz="2400" dirty="0">
                <a:solidFill>
                  <a:srgbClr val="000000"/>
                </a:solidFill>
                <a:latin typeface="inter-regular"/>
              </a:rPr>
              <a:t>   while(p</a:t>
            </a:r>
            <a:r>
              <a:rPr lang="en-US" sz="2400" b="0" i="0" dirty="0">
                <a:solidFill>
                  <a:srgbClr val="000000"/>
                </a:solidFill>
                <a:effectLst/>
                <a:latin typeface="inter-regular"/>
              </a:rPr>
              <a:t>-&gt;next != head)                 </a:t>
            </a:r>
          </a:p>
          <a:p>
            <a:pPr marL="0" indent="0" algn="just">
              <a:buNone/>
            </a:pPr>
            <a:r>
              <a:rPr lang="en-US" sz="2400" b="0" i="0" dirty="0">
                <a:solidFill>
                  <a:srgbClr val="000000"/>
                </a:solidFill>
                <a:effectLst/>
                <a:latin typeface="inter-regular"/>
              </a:rPr>
              <a:t>             p = p-&gt;next;  </a:t>
            </a:r>
          </a:p>
          <a:p>
            <a:pPr marL="0" indent="0">
              <a:buNone/>
            </a:pPr>
            <a:r>
              <a:rPr lang="en-IN" dirty="0"/>
              <a:t>    P-&gt;next = New;</a:t>
            </a:r>
          </a:p>
          <a:p>
            <a:pPr marL="0" indent="0">
              <a:buNone/>
            </a:pPr>
            <a:r>
              <a:rPr lang="en-IN" dirty="0"/>
              <a:t>    New-&gt;next = head;</a:t>
            </a:r>
          </a:p>
          <a:p>
            <a:pPr marL="0" indent="0">
              <a:buNone/>
            </a:pPr>
            <a:r>
              <a:rPr lang="en-IN" dirty="0"/>
              <a:t>}</a:t>
            </a:r>
          </a:p>
        </p:txBody>
      </p:sp>
      <p:pic>
        <p:nvPicPr>
          <p:cNvPr id="5" name="Picture 2" descr="Insertion At Last in Circular linked list">
            <a:extLst>
              <a:ext uri="{FF2B5EF4-FFF2-40B4-BE49-F238E27FC236}">
                <a16:creationId xmlns:a16="http://schemas.microsoft.com/office/drawing/2014/main" id="{98417707-F786-404F-2E6D-8F5DE3070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5679" y="2545184"/>
            <a:ext cx="7070494" cy="2798976"/>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61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7BD5-D95A-5AF5-7719-DC876F037287}"/>
              </a:ext>
            </a:extLst>
          </p:cNvPr>
          <p:cNvSpPr>
            <a:spLocks noGrp="1"/>
          </p:cNvSpPr>
          <p:nvPr>
            <p:ph type="title"/>
          </p:nvPr>
        </p:nvSpPr>
        <p:spPr>
          <a:xfrm>
            <a:off x="1362391" y="147321"/>
            <a:ext cx="10018713" cy="990600"/>
          </a:xfrm>
        </p:spPr>
        <p:txBody>
          <a:bodyPr/>
          <a:lstStyle/>
          <a:p>
            <a:r>
              <a:rPr lang="en-IN" dirty="0">
                <a:solidFill>
                  <a:schemeClr val="accent5">
                    <a:lumMod val="75000"/>
                  </a:schemeClr>
                </a:solidFill>
              </a:rPr>
              <a:t>Pseudo code for insertion at specific position</a:t>
            </a:r>
          </a:p>
        </p:txBody>
      </p:sp>
      <p:sp>
        <p:nvSpPr>
          <p:cNvPr id="3" name="Content Placeholder 2">
            <a:extLst>
              <a:ext uri="{FF2B5EF4-FFF2-40B4-BE49-F238E27FC236}">
                <a16:creationId xmlns:a16="http://schemas.microsoft.com/office/drawing/2014/main" id="{1C53469A-5906-9E25-2B50-9FCC66E01AAD}"/>
              </a:ext>
            </a:extLst>
          </p:cNvPr>
          <p:cNvSpPr>
            <a:spLocks noGrp="1"/>
          </p:cNvSpPr>
          <p:nvPr>
            <p:ph idx="1"/>
          </p:nvPr>
        </p:nvSpPr>
        <p:spPr>
          <a:xfrm>
            <a:off x="1717040" y="1178561"/>
            <a:ext cx="9785982" cy="5577839"/>
          </a:xfrm>
        </p:spPr>
        <p:txBody>
          <a:bodyPr>
            <a:noAutofit/>
          </a:bodyPr>
          <a:lstStyle/>
          <a:p>
            <a:pPr marL="0" indent="0" algn="just">
              <a:buNone/>
            </a:pPr>
            <a:r>
              <a:rPr lang="en-US" sz="1800" dirty="0">
                <a:solidFill>
                  <a:srgbClr val="000000"/>
                </a:solidFill>
                <a:latin typeface="inter-regular"/>
              </a:rPr>
              <a:t>int </a:t>
            </a:r>
            <a:r>
              <a:rPr lang="en-US" sz="1800" dirty="0" err="1">
                <a:solidFill>
                  <a:srgbClr val="000000"/>
                </a:solidFill>
                <a:latin typeface="inter-regular"/>
              </a:rPr>
              <a:t>pos,count</a:t>
            </a:r>
            <a:r>
              <a:rPr lang="en-US" sz="1800" dirty="0">
                <a:solidFill>
                  <a:srgbClr val="000000"/>
                </a:solidFill>
                <a:latin typeface="inter-regular"/>
              </a:rPr>
              <a:t> = 1;</a:t>
            </a:r>
          </a:p>
          <a:p>
            <a:pPr marL="0" indent="0" algn="just">
              <a:buNone/>
            </a:pPr>
            <a:r>
              <a:rPr lang="en-US" sz="1800" dirty="0" err="1">
                <a:solidFill>
                  <a:srgbClr val="000000"/>
                </a:solidFill>
                <a:latin typeface="inter-regular"/>
              </a:rPr>
              <a:t>cin</a:t>
            </a:r>
            <a:r>
              <a:rPr lang="en-US" sz="1800" dirty="0">
                <a:solidFill>
                  <a:srgbClr val="000000"/>
                </a:solidFill>
                <a:latin typeface="inter-regular"/>
              </a:rPr>
              <a:t>&gt;&gt;pos;</a:t>
            </a:r>
          </a:p>
          <a:p>
            <a:pPr marL="0" indent="0" algn="just">
              <a:buNone/>
            </a:pPr>
            <a:r>
              <a:rPr lang="en-US" sz="1800" dirty="0">
                <a:solidFill>
                  <a:srgbClr val="000000"/>
                </a:solidFill>
                <a:latin typeface="inter-regular"/>
              </a:rPr>
              <a:t>if(he</a:t>
            </a:r>
            <a:r>
              <a:rPr lang="en-US" sz="1800" b="0" i="0" dirty="0">
                <a:solidFill>
                  <a:srgbClr val="000000"/>
                </a:solidFill>
                <a:effectLst/>
                <a:latin typeface="inter-regular"/>
              </a:rPr>
              <a:t>ad == NULL) {      </a:t>
            </a: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head = New;  </a:t>
            </a:r>
          </a:p>
          <a:p>
            <a:pPr marL="0" indent="0" algn="just">
              <a:buNone/>
            </a:pPr>
            <a:r>
              <a:rPr lang="en-US" sz="1800" b="0" i="0" dirty="0">
                <a:solidFill>
                  <a:srgbClr val="000000"/>
                </a:solidFill>
                <a:effectLst/>
                <a:latin typeface="inter-regular"/>
              </a:rPr>
              <a:t>      New -&gt; next = head;    </a:t>
            </a:r>
          </a:p>
          <a:p>
            <a:pPr marL="0" indent="0" algn="just">
              <a:buNone/>
            </a:pPr>
            <a:r>
              <a:rPr lang="en-US" sz="1800" b="0" i="0" dirty="0">
                <a:solidFill>
                  <a:srgbClr val="000000"/>
                </a:solidFill>
                <a:effectLst/>
                <a:latin typeface="inter-regular"/>
              </a:rPr>
              <a:t> }  </a:t>
            </a:r>
          </a:p>
          <a:p>
            <a:pPr marL="0" indent="0" algn="just">
              <a:buNone/>
            </a:pPr>
            <a:r>
              <a:rPr lang="en-US" sz="1800" dirty="0">
                <a:solidFill>
                  <a:srgbClr val="000000"/>
                </a:solidFill>
                <a:latin typeface="inter-regular"/>
              </a:rPr>
              <a:t>else{</a:t>
            </a:r>
          </a:p>
          <a:p>
            <a:pPr marL="0" indent="0" algn="just">
              <a:buNone/>
            </a:pPr>
            <a:r>
              <a:rPr lang="en-US" sz="1800" b="0" i="0" dirty="0">
                <a:solidFill>
                  <a:srgbClr val="000000"/>
                </a:solidFill>
                <a:effectLst/>
                <a:latin typeface="inter-regular"/>
              </a:rPr>
              <a:t>   node *p = head;  </a:t>
            </a:r>
          </a:p>
          <a:p>
            <a:pPr marL="0" indent="0">
              <a:buNone/>
            </a:pPr>
            <a:r>
              <a:rPr lang="en-IN" sz="1800" dirty="0"/>
              <a:t>    while(p-&gt;next != head &amp;&amp; count != pos-1)</a:t>
            </a:r>
          </a:p>
          <a:p>
            <a:pPr marL="0" indent="0">
              <a:buNone/>
            </a:pPr>
            <a:r>
              <a:rPr lang="en-IN" sz="1800" dirty="0"/>
              <a:t>{</a:t>
            </a:r>
          </a:p>
          <a:p>
            <a:pPr marL="0" indent="0">
              <a:buNone/>
            </a:pPr>
            <a:r>
              <a:rPr lang="en-IN" sz="1800" dirty="0"/>
              <a:t>               p = p-&gt;next;</a:t>
            </a:r>
          </a:p>
          <a:p>
            <a:pPr marL="0" indent="0">
              <a:buNone/>
            </a:pPr>
            <a:r>
              <a:rPr lang="en-IN" sz="1800" dirty="0"/>
              <a:t>            count++;</a:t>
            </a:r>
          </a:p>
          <a:p>
            <a:pPr marL="0" indent="0">
              <a:buNone/>
            </a:pPr>
            <a:r>
              <a:rPr lang="en-IN" sz="1800" dirty="0"/>
              <a:t>}</a:t>
            </a:r>
          </a:p>
          <a:p>
            <a:pPr marL="0" indent="0">
              <a:buNone/>
            </a:pPr>
            <a:r>
              <a:rPr lang="en-IN" sz="1800" dirty="0"/>
              <a:t>    </a:t>
            </a:r>
            <a:r>
              <a:rPr lang="en-US" sz="1800" dirty="0"/>
              <a:t>New-&gt;next = p-&gt;next</a:t>
            </a:r>
          </a:p>
          <a:p>
            <a:pPr marL="0" indent="0">
              <a:buNone/>
            </a:pPr>
            <a:r>
              <a:rPr lang="en-US" sz="1800" dirty="0"/>
              <a:t>    p-&gt;next = New</a:t>
            </a:r>
          </a:p>
          <a:p>
            <a:pPr marL="0" indent="0">
              <a:buNone/>
            </a:pPr>
            <a:r>
              <a:rPr lang="en-US" sz="1800" dirty="0"/>
              <a:t> }</a:t>
            </a:r>
            <a:endParaRPr lang="en-IN" sz="1800" dirty="0"/>
          </a:p>
        </p:txBody>
      </p:sp>
      <p:pic>
        <p:nvPicPr>
          <p:cNvPr id="5122" name="Picture 2" descr="Insertion At Location in Circular linked list">
            <a:extLst>
              <a:ext uri="{FF2B5EF4-FFF2-40B4-BE49-F238E27FC236}">
                <a16:creationId xmlns:a16="http://schemas.microsoft.com/office/drawing/2014/main" id="{76F0A3F1-BDBA-54FC-E555-EB4E95B83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908" y="1768158"/>
            <a:ext cx="6179367" cy="2238976"/>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39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6C4A-DF5B-709E-38CC-03D170524304}"/>
              </a:ext>
            </a:extLst>
          </p:cNvPr>
          <p:cNvSpPr>
            <a:spLocks noGrp="1"/>
          </p:cNvSpPr>
          <p:nvPr>
            <p:ph type="title"/>
          </p:nvPr>
        </p:nvSpPr>
        <p:spPr>
          <a:xfrm>
            <a:off x="1240471" y="1"/>
            <a:ext cx="10018713" cy="1066800"/>
          </a:xfrm>
        </p:spPr>
        <p:txBody>
          <a:bodyPr/>
          <a:lstStyle/>
          <a:p>
            <a:r>
              <a:rPr lang="en-IN" dirty="0">
                <a:solidFill>
                  <a:srgbClr val="C00000"/>
                </a:solidFill>
              </a:rPr>
              <a:t>Deletion operations</a:t>
            </a:r>
          </a:p>
        </p:txBody>
      </p:sp>
      <p:sp>
        <p:nvSpPr>
          <p:cNvPr id="3" name="Content Placeholder 2">
            <a:extLst>
              <a:ext uri="{FF2B5EF4-FFF2-40B4-BE49-F238E27FC236}">
                <a16:creationId xmlns:a16="http://schemas.microsoft.com/office/drawing/2014/main" id="{EBB5E3CB-F05A-FC4E-3848-35E18E42E056}"/>
              </a:ext>
            </a:extLst>
          </p:cNvPr>
          <p:cNvSpPr>
            <a:spLocks noGrp="1"/>
          </p:cNvSpPr>
          <p:nvPr>
            <p:ph idx="1"/>
          </p:nvPr>
        </p:nvSpPr>
        <p:spPr>
          <a:xfrm>
            <a:off x="1616391" y="1391920"/>
            <a:ext cx="9844090" cy="6075680"/>
          </a:xfrm>
        </p:spPr>
        <p:txBody>
          <a:bodyPr>
            <a:normAutofit fontScale="70000" lnSpcReduction="20000"/>
          </a:bodyPr>
          <a:lstStyle/>
          <a:p>
            <a:r>
              <a:rPr lang="en-US" sz="2600" dirty="0"/>
              <a:t>A node can be deleted from any position in the list, however we are considering three distinct cases:</a:t>
            </a:r>
          </a:p>
          <a:p>
            <a:pPr marL="0" indent="0">
              <a:buNone/>
            </a:pPr>
            <a:r>
              <a:rPr lang="en-US" sz="2600" dirty="0"/>
              <a:t>      1. Deletion from beginning</a:t>
            </a:r>
          </a:p>
          <a:p>
            <a:pPr marL="0" indent="0">
              <a:buNone/>
            </a:pPr>
            <a:r>
              <a:rPr lang="en-US" sz="2600" dirty="0"/>
              <a:t>       2. Deletion from last</a:t>
            </a:r>
          </a:p>
          <a:p>
            <a:pPr marL="0" indent="0">
              <a:buNone/>
            </a:pPr>
            <a:r>
              <a:rPr lang="en-US" sz="2600" dirty="0"/>
              <a:t>       3. Deletion of a specific node based on</a:t>
            </a:r>
          </a:p>
          <a:p>
            <a:pPr lvl="1">
              <a:buSzPct val="100000"/>
              <a:buFont typeface="Wingdings" panose="05000000000000000000" pitchFamily="2" charset="2"/>
              <a:buChar char="ü"/>
            </a:pPr>
            <a:r>
              <a:rPr lang="en-US" sz="2600" dirty="0"/>
              <a:t> Key</a:t>
            </a:r>
          </a:p>
          <a:p>
            <a:pPr lvl="1">
              <a:buSzPct val="100000"/>
              <a:buFont typeface="Wingdings" panose="05000000000000000000" pitchFamily="2" charset="2"/>
              <a:buChar char="ü"/>
            </a:pPr>
            <a:r>
              <a:rPr lang="en-US" sz="2600" dirty="0"/>
              <a:t> Position/Index of node </a:t>
            </a:r>
          </a:p>
          <a:p>
            <a:pPr marL="457200" lvl="1" indent="0">
              <a:buSzPct val="100000"/>
              <a:buNone/>
            </a:pPr>
            <a:endParaRPr lang="en-US" sz="2600" dirty="0"/>
          </a:p>
          <a:p>
            <a:r>
              <a:rPr lang="en-US" sz="2600" dirty="0"/>
              <a:t>In circular linked list, the deletion operation requires traversing the entire list, as we need to change the next field of the last node and make it to point towards head pointer.</a:t>
            </a:r>
          </a:p>
          <a:p>
            <a:r>
              <a:rPr lang="en-US" sz="2600" dirty="0"/>
              <a:t>We create a class which consists of data part and address of next node.</a:t>
            </a:r>
          </a:p>
          <a:p>
            <a:pPr marL="0" indent="0">
              <a:buNone/>
            </a:pPr>
            <a:r>
              <a:rPr lang="en-US" sz="2600" dirty="0"/>
              <a:t>      class node</a:t>
            </a:r>
          </a:p>
          <a:p>
            <a:pPr marL="0" indent="0">
              <a:buNone/>
            </a:pPr>
            <a:r>
              <a:rPr lang="en-US" sz="2600" dirty="0"/>
              <a:t>      {</a:t>
            </a:r>
          </a:p>
          <a:p>
            <a:pPr marL="0" indent="0">
              <a:buNone/>
            </a:pPr>
            <a:r>
              <a:rPr lang="en-US" sz="2600" dirty="0"/>
              <a:t>        public:</a:t>
            </a:r>
          </a:p>
          <a:p>
            <a:pPr marL="0" indent="0">
              <a:buNone/>
            </a:pPr>
            <a:r>
              <a:rPr lang="en-US" sz="2600" dirty="0"/>
              <a:t>            int data;</a:t>
            </a:r>
          </a:p>
          <a:p>
            <a:pPr marL="0" indent="0">
              <a:buNone/>
            </a:pPr>
            <a:r>
              <a:rPr lang="en-US" sz="2600" dirty="0"/>
              <a:t>            node* next;</a:t>
            </a:r>
          </a:p>
          <a:p>
            <a:pPr marL="0" indent="0">
              <a:buNone/>
            </a:pPr>
            <a:r>
              <a:rPr lang="en-US" sz="2600" dirty="0"/>
              <a:t>       };</a:t>
            </a:r>
          </a:p>
          <a:p>
            <a:pPr marL="0" indent="0">
              <a:buSzPct val="100000"/>
              <a:buNone/>
            </a:pPr>
            <a:endParaRPr lang="en-US" sz="2000" dirty="0"/>
          </a:p>
          <a:p>
            <a:pPr>
              <a:buSzPct val="100000"/>
            </a:pPr>
            <a:endParaRPr lang="en-US" sz="2800" dirty="0"/>
          </a:p>
          <a:p>
            <a:endParaRPr lang="en-IN" dirty="0"/>
          </a:p>
        </p:txBody>
      </p:sp>
    </p:spTree>
    <p:extLst>
      <p:ext uri="{BB962C8B-B14F-4D97-AF65-F5344CB8AC3E}">
        <p14:creationId xmlns:p14="http://schemas.microsoft.com/office/powerpoint/2010/main" val="955568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EE16-600A-B39D-2113-8E05DCE47865}"/>
              </a:ext>
            </a:extLst>
          </p:cNvPr>
          <p:cNvSpPr>
            <a:spLocks noGrp="1"/>
          </p:cNvSpPr>
          <p:nvPr>
            <p:ph type="title"/>
          </p:nvPr>
        </p:nvSpPr>
        <p:spPr>
          <a:xfrm>
            <a:off x="1352231" y="106680"/>
            <a:ext cx="10018713" cy="960120"/>
          </a:xfrm>
        </p:spPr>
        <p:txBody>
          <a:bodyPr/>
          <a:lstStyle/>
          <a:p>
            <a:r>
              <a:rPr lang="en-IN" dirty="0">
                <a:solidFill>
                  <a:schemeClr val="accent5">
                    <a:lumMod val="75000"/>
                  </a:schemeClr>
                </a:solidFill>
              </a:rPr>
              <a:t>Pseudo code for deletion from beginning</a:t>
            </a:r>
          </a:p>
        </p:txBody>
      </p:sp>
      <p:sp>
        <p:nvSpPr>
          <p:cNvPr id="3" name="Content Placeholder 2">
            <a:extLst>
              <a:ext uri="{FF2B5EF4-FFF2-40B4-BE49-F238E27FC236}">
                <a16:creationId xmlns:a16="http://schemas.microsoft.com/office/drawing/2014/main" id="{32C413A4-908E-3E79-46A3-52503B06E5C8}"/>
              </a:ext>
            </a:extLst>
          </p:cNvPr>
          <p:cNvSpPr>
            <a:spLocks noGrp="1"/>
          </p:cNvSpPr>
          <p:nvPr>
            <p:ph idx="1"/>
          </p:nvPr>
        </p:nvSpPr>
        <p:spPr>
          <a:xfrm>
            <a:off x="1869440" y="1066800"/>
            <a:ext cx="9643743" cy="6695440"/>
          </a:xfrm>
        </p:spPr>
        <p:txBody>
          <a:bodyPr>
            <a:noAutofit/>
          </a:bodyPr>
          <a:lstStyle/>
          <a:p>
            <a:pPr marL="0" indent="0" algn="just">
              <a:buNone/>
            </a:pPr>
            <a:r>
              <a:rPr lang="en-US" sz="1800" dirty="0">
                <a:solidFill>
                  <a:srgbClr val="000000"/>
                </a:solidFill>
                <a:latin typeface="inter-regular"/>
              </a:rPr>
              <a:t>if(he</a:t>
            </a:r>
            <a:r>
              <a:rPr lang="en-US" sz="1800" b="0" i="0" dirty="0">
                <a:solidFill>
                  <a:srgbClr val="000000"/>
                </a:solidFill>
                <a:effectLst/>
                <a:latin typeface="inter-regular"/>
              </a:rPr>
              <a:t>ad == NULL)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cout</a:t>
            </a:r>
            <a:r>
              <a:rPr lang="en-US" sz="1800" b="0" i="0" dirty="0">
                <a:solidFill>
                  <a:srgbClr val="000000"/>
                </a:solidFill>
                <a:effectLst/>
                <a:latin typeface="inter-regular"/>
              </a:rPr>
              <a:t>&lt;&lt;“List is empty!”;            </a:t>
            </a:r>
          </a:p>
          <a:p>
            <a:pPr marL="0" indent="0" algn="just">
              <a:buNone/>
            </a:pPr>
            <a:r>
              <a:rPr lang="en-US" sz="1800" dirty="0">
                <a:solidFill>
                  <a:srgbClr val="000000"/>
                </a:solidFill>
                <a:latin typeface="inter-regular"/>
              </a:rPr>
              <a:t> else</a:t>
            </a:r>
          </a:p>
          <a:p>
            <a:pPr marL="0" indent="0" algn="just">
              <a:buNone/>
            </a:pPr>
            <a:r>
              <a:rPr lang="en-US" sz="1800" b="0" i="0" dirty="0">
                <a:solidFill>
                  <a:srgbClr val="000000"/>
                </a:solidFill>
                <a:effectLst/>
                <a:latin typeface="inter-regular"/>
              </a:rPr>
              <a:t>{</a:t>
            </a:r>
          </a:p>
          <a:p>
            <a:pPr marL="0" indent="0" algn="just">
              <a:buNone/>
            </a:pPr>
            <a:r>
              <a:rPr lang="en-US" sz="1800" dirty="0">
                <a:solidFill>
                  <a:srgbClr val="000000"/>
                </a:solidFill>
                <a:latin typeface="inter-regular"/>
              </a:rPr>
              <a:t>  node *</a:t>
            </a:r>
            <a:r>
              <a:rPr lang="en-US" sz="1800" b="0" i="0" dirty="0">
                <a:solidFill>
                  <a:srgbClr val="000000"/>
                </a:solidFill>
                <a:effectLst/>
                <a:latin typeface="inter-regular"/>
              </a:rPr>
              <a:t>p = head;  </a:t>
            </a:r>
          </a:p>
          <a:p>
            <a:pPr marL="0" indent="0" algn="just">
              <a:buNone/>
            </a:pPr>
            <a:r>
              <a:rPr lang="en-US" sz="1800" dirty="0">
                <a:solidFill>
                  <a:srgbClr val="000000"/>
                </a:solidFill>
                <a:latin typeface="inter-regular"/>
              </a:rPr>
              <a:t>   while(p</a:t>
            </a:r>
            <a:r>
              <a:rPr lang="en-US" sz="1800" b="0" i="0" dirty="0">
                <a:solidFill>
                  <a:srgbClr val="000000"/>
                </a:solidFill>
                <a:effectLst/>
                <a:latin typeface="inter-regular"/>
              </a:rPr>
              <a:t>-&gt;next != head)                 </a:t>
            </a:r>
          </a:p>
          <a:p>
            <a:pPr marL="0" indent="0" algn="just">
              <a:buNone/>
            </a:pPr>
            <a:r>
              <a:rPr lang="en-US" sz="1800" b="0" i="0" dirty="0">
                <a:solidFill>
                  <a:srgbClr val="000000"/>
                </a:solidFill>
                <a:effectLst/>
                <a:latin typeface="inter-regular"/>
              </a:rPr>
              <a:t>             p = p-&gt;next;  </a:t>
            </a:r>
          </a:p>
          <a:p>
            <a:pPr marL="0" indent="0" algn="just">
              <a:buNone/>
            </a:pPr>
            <a:r>
              <a:rPr lang="en-US" sz="1800" dirty="0">
                <a:solidFill>
                  <a:srgbClr val="000000"/>
                </a:solidFill>
                <a:latin typeface="inter-regular"/>
              </a:rPr>
              <a:t>   p-&gt;next = head-&gt;next;</a:t>
            </a:r>
          </a:p>
          <a:p>
            <a:pPr marL="0" indent="0" algn="just">
              <a:buNone/>
            </a:pPr>
            <a:r>
              <a:rPr lang="en-US" sz="1800" b="0" i="0" dirty="0">
                <a:solidFill>
                  <a:srgbClr val="000000"/>
                </a:solidFill>
                <a:effectLst/>
                <a:latin typeface="inter-regular"/>
              </a:rPr>
              <a:t>   p = head;</a:t>
            </a:r>
          </a:p>
          <a:p>
            <a:pPr marL="0" indent="0" algn="just">
              <a:buNone/>
            </a:pPr>
            <a:r>
              <a:rPr lang="en-US" sz="1800" b="0" i="0" dirty="0">
                <a:solidFill>
                  <a:srgbClr val="000000"/>
                </a:solidFill>
                <a:effectLst/>
                <a:latin typeface="inter-regular"/>
              </a:rPr>
              <a:t>   head = head-&gt;next;</a:t>
            </a:r>
          </a:p>
          <a:p>
            <a:pPr marL="0" indent="0" algn="just">
              <a:buNone/>
            </a:pPr>
            <a:r>
              <a:rPr lang="en-US" sz="1800" dirty="0">
                <a:solidFill>
                  <a:srgbClr val="000000"/>
                </a:solidFill>
                <a:latin typeface="inter-regular"/>
              </a:rPr>
              <a:t>   </a:t>
            </a:r>
            <a:r>
              <a:rPr lang="en-US" sz="1800" dirty="0" err="1">
                <a:solidFill>
                  <a:srgbClr val="000000"/>
                </a:solidFill>
                <a:latin typeface="inter-regular"/>
              </a:rPr>
              <a:t>cout</a:t>
            </a:r>
            <a:r>
              <a:rPr lang="en-US" sz="1800" dirty="0">
                <a:solidFill>
                  <a:srgbClr val="000000"/>
                </a:solidFill>
                <a:latin typeface="inter-regular"/>
              </a:rPr>
              <a:t>&lt;&lt;“The deleted element is: “&lt;&lt;p-&gt;data;</a:t>
            </a:r>
          </a:p>
          <a:p>
            <a:pPr marL="0" indent="0" algn="just">
              <a:buNone/>
            </a:pPr>
            <a:r>
              <a:rPr lang="en-US" sz="1800" b="0" i="0" dirty="0">
                <a:solidFill>
                  <a:srgbClr val="000000"/>
                </a:solidFill>
                <a:effectLst/>
                <a:latin typeface="inter-regular"/>
              </a:rPr>
              <a:t>   p-&gt;next = NULL;</a:t>
            </a:r>
          </a:p>
          <a:p>
            <a:pPr marL="0" indent="0" algn="just">
              <a:buNone/>
            </a:pPr>
            <a:r>
              <a:rPr lang="en-US" sz="1800" dirty="0">
                <a:solidFill>
                  <a:srgbClr val="000000"/>
                </a:solidFill>
                <a:latin typeface="inter-regular"/>
              </a:rPr>
              <a:t>   delete p;</a:t>
            </a:r>
          </a:p>
          <a:p>
            <a:pPr marL="0" indent="0" algn="just">
              <a:buNone/>
            </a:pPr>
            <a:r>
              <a:rPr lang="en-US" sz="1800" b="0" i="0" dirty="0">
                <a:solidFill>
                  <a:srgbClr val="000000"/>
                </a:solidFill>
                <a:effectLst/>
                <a:latin typeface="inter-regular"/>
              </a:rPr>
              <a:t>}</a:t>
            </a:r>
          </a:p>
          <a:p>
            <a:pPr marL="0" indent="0" algn="just">
              <a:buNone/>
            </a:pPr>
            <a:endParaRPr lang="en-US" sz="1800" b="0" i="0" dirty="0">
              <a:solidFill>
                <a:srgbClr val="000000"/>
              </a:solidFill>
              <a:effectLst/>
              <a:latin typeface="inter-regular"/>
            </a:endParaRPr>
          </a:p>
          <a:p>
            <a:pPr marL="0" indent="0" algn="just">
              <a:buNone/>
            </a:pPr>
            <a:endParaRPr lang="en-US" sz="1800" b="0" i="0" dirty="0">
              <a:solidFill>
                <a:srgbClr val="000000"/>
              </a:solidFill>
              <a:effectLst/>
              <a:latin typeface="inter-regular"/>
            </a:endParaRP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 </a:t>
            </a:r>
            <a:endParaRPr lang="en-IN" sz="1800" dirty="0"/>
          </a:p>
        </p:txBody>
      </p:sp>
      <p:pic>
        <p:nvPicPr>
          <p:cNvPr id="6146" name="Picture 2" descr="Deletion at beginning in the Circular linked list">
            <a:extLst>
              <a:ext uri="{FF2B5EF4-FFF2-40B4-BE49-F238E27FC236}">
                <a16:creationId xmlns:a16="http://schemas.microsoft.com/office/drawing/2014/main" id="{3C72DF6D-0A83-B135-0A95-3AB46B413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074" y="2112328"/>
            <a:ext cx="6644006" cy="2592484"/>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4956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127D-E59A-529B-50EF-FD9434DE1618}"/>
              </a:ext>
            </a:extLst>
          </p:cNvPr>
          <p:cNvSpPr>
            <a:spLocks noGrp="1"/>
          </p:cNvSpPr>
          <p:nvPr>
            <p:ph type="title"/>
          </p:nvPr>
        </p:nvSpPr>
        <p:spPr>
          <a:xfrm>
            <a:off x="1484310" y="116841"/>
            <a:ext cx="9539289" cy="858520"/>
          </a:xfrm>
        </p:spPr>
        <p:txBody>
          <a:bodyPr/>
          <a:lstStyle/>
          <a:p>
            <a:r>
              <a:rPr lang="en-IN" dirty="0">
                <a:solidFill>
                  <a:schemeClr val="accent5">
                    <a:lumMod val="75000"/>
                  </a:schemeClr>
                </a:solidFill>
              </a:rPr>
              <a:t>Pseudo code for deletion from end</a:t>
            </a:r>
          </a:p>
        </p:txBody>
      </p:sp>
      <p:sp>
        <p:nvSpPr>
          <p:cNvPr id="3" name="Content Placeholder 2">
            <a:extLst>
              <a:ext uri="{FF2B5EF4-FFF2-40B4-BE49-F238E27FC236}">
                <a16:creationId xmlns:a16="http://schemas.microsoft.com/office/drawing/2014/main" id="{8108047D-1833-6E35-FFCD-9307FDA0B473}"/>
              </a:ext>
            </a:extLst>
          </p:cNvPr>
          <p:cNvSpPr>
            <a:spLocks noGrp="1"/>
          </p:cNvSpPr>
          <p:nvPr>
            <p:ph idx="1"/>
          </p:nvPr>
        </p:nvSpPr>
        <p:spPr>
          <a:xfrm>
            <a:off x="1788160" y="680720"/>
            <a:ext cx="9807253" cy="6126480"/>
          </a:xfrm>
        </p:spPr>
        <p:txBody>
          <a:bodyPr>
            <a:noAutofit/>
          </a:bodyPr>
          <a:lstStyle/>
          <a:p>
            <a:pPr marL="0" indent="0">
              <a:buNone/>
            </a:pPr>
            <a:endParaRPr lang="en-IN" sz="1700" dirty="0"/>
          </a:p>
          <a:p>
            <a:pPr marL="0" indent="0">
              <a:buNone/>
            </a:pPr>
            <a:r>
              <a:rPr lang="en-IN" sz="1800" dirty="0"/>
              <a:t>if(head == NULL)</a:t>
            </a:r>
          </a:p>
          <a:p>
            <a:pPr marL="0" indent="0">
              <a:buNone/>
            </a:pPr>
            <a:r>
              <a:rPr lang="en-IN" sz="1800" dirty="0"/>
              <a:t>     </a:t>
            </a:r>
            <a:r>
              <a:rPr lang="en-IN" sz="1800" dirty="0" err="1"/>
              <a:t>cout</a:t>
            </a:r>
            <a:r>
              <a:rPr lang="en-IN" sz="1800" dirty="0"/>
              <a:t>&lt;&lt;“The list is empty!”;</a:t>
            </a:r>
          </a:p>
          <a:p>
            <a:pPr marL="0" indent="0">
              <a:buNone/>
            </a:pPr>
            <a:r>
              <a:rPr lang="en-IN" sz="1800" dirty="0"/>
              <a:t>else</a:t>
            </a:r>
          </a:p>
          <a:p>
            <a:pPr marL="0" indent="0">
              <a:buNone/>
            </a:pPr>
            <a:r>
              <a:rPr lang="en-IN" sz="1800" dirty="0"/>
              <a:t>{</a:t>
            </a:r>
          </a:p>
          <a:p>
            <a:pPr marL="0" indent="0" algn="just">
              <a:buNone/>
            </a:pPr>
            <a:r>
              <a:rPr lang="en-US" sz="1800" dirty="0">
                <a:solidFill>
                  <a:srgbClr val="000000"/>
                </a:solidFill>
                <a:latin typeface="inter-regular"/>
              </a:rPr>
              <a:t>   node *q,*</a:t>
            </a:r>
            <a:r>
              <a:rPr lang="en-US" sz="1800" b="0" i="0" dirty="0">
                <a:solidFill>
                  <a:srgbClr val="000000"/>
                </a:solidFill>
                <a:effectLst/>
                <a:latin typeface="inter-regular"/>
              </a:rPr>
              <a:t>p = head;  </a:t>
            </a:r>
          </a:p>
          <a:p>
            <a:pPr marL="0" indent="0" algn="just">
              <a:buNone/>
            </a:pPr>
            <a:r>
              <a:rPr lang="en-US" sz="1800" dirty="0">
                <a:solidFill>
                  <a:srgbClr val="000000"/>
                </a:solidFill>
                <a:latin typeface="inter-regular"/>
              </a:rPr>
              <a:t>  while(p</a:t>
            </a:r>
            <a:r>
              <a:rPr lang="en-US" sz="1800" b="0" i="0" dirty="0">
                <a:solidFill>
                  <a:srgbClr val="000000"/>
                </a:solidFill>
                <a:effectLst/>
                <a:latin typeface="inter-regular"/>
              </a:rPr>
              <a:t>-&gt;next != head) </a:t>
            </a:r>
          </a:p>
          <a:p>
            <a:pPr marL="0" indent="0" algn="just">
              <a:buNone/>
            </a:pPr>
            <a:r>
              <a:rPr lang="en-US" sz="1800" dirty="0">
                <a:solidFill>
                  <a:srgbClr val="000000"/>
                </a:solidFill>
                <a:latin typeface="inter-regular"/>
              </a:rPr>
              <a:t>  {</a:t>
            </a:r>
          </a:p>
          <a:p>
            <a:pPr marL="0" indent="0" algn="just">
              <a:buNone/>
            </a:pPr>
            <a:r>
              <a:rPr lang="en-US" sz="1800" b="0" i="0" dirty="0">
                <a:solidFill>
                  <a:srgbClr val="000000"/>
                </a:solidFill>
                <a:effectLst/>
                <a:latin typeface="inter-regular"/>
              </a:rPr>
              <a:t>    q = p;                </a:t>
            </a:r>
          </a:p>
          <a:p>
            <a:pPr marL="0" indent="0" algn="just">
              <a:buNone/>
            </a:pPr>
            <a:r>
              <a:rPr lang="en-US" sz="1800" b="0" i="0" dirty="0">
                <a:solidFill>
                  <a:srgbClr val="000000"/>
                </a:solidFill>
                <a:effectLst/>
                <a:latin typeface="inter-regular"/>
              </a:rPr>
              <a:t>    p = p-&gt;next;  </a:t>
            </a:r>
          </a:p>
          <a:p>
            <a:pPr marL="0" indent="0" algn="just">
              <a:buNone/>
            </a:pPr>
            <a:r>
              <a:rPr lang="en-US" sz="1800" dirty="0">
                <a:solidFill>
                  <a:srgbClr val="000000"/>
                </a:solidFill>
                <a:latin typeface="inter-regular"/>
              </a:rPr>
              <a:t>  }</a:t>
            </a:r>
          </a:p>
          <a:p>
            <a:pPr marL="0" indent="0" algn="just">
              <a:buNone/>
            </a:pPr>
            <a:r>
              <a:rPr lang="en-US" sz="1800" dirty="0">
                <a:solidFill>
                  <a:srgbClr val="000000"/>
                </a:solidFill>
                <a:latin typeface="inter-regular"/>
              </a:rPr>
              <a:t> q</a:t>
            </a:r>
            <a:r>
              <a:rPr lang="en-US" sz="1800" b="0" i="0" dirty="0">
                <a:solidFill>
                  <a:srgbClr val="000000"/>
                </a:solidFill>
                <a:effectLst/>
                <a:latin typeface="inter-regular"/>
              </a:rPr>
              <a:t>-&gt;next = head;</a:t>
            </a:r>
          </a:p>
          <a:p>
            <a:pPr marL="0" indent="0" algn="just">
              <a:buNone/>
            </a:pPr>
            <a:r>
              <a:rPr lang="en-US" sz="1800" dirty="0">
                <a:solidFill>
                  <a:srgbClr val="000000"/>
                </a:solidFill>
                <a:latin typeface="inter-regular"/>
              </a:rPr>
              <a:t> </a:t>
            </a:r>
            <a:r>
              <a:rPr lang="en-US" sz="1800" dirty="0" err="1">
                <a:solidFill>
                  <a:srgbClr val="000000"/>
                </a:solidFill>
                <a:latin typeface="inter-regular"/>
              </a:rPr>
              <a:t>cout</a:t>
            </a:r>
            <a:r>
              <a:rPr lang="en-US" sz="1800" dirty="0">
                <a:solidFill>
                  <a:srgbClr val="000000"/>
                </a:solidFill>
                <a:latin typeface="inter-regular"/>
              </a:rPr>
              <a:t>&lt;&lt;“The deleted element is: “&lt;&lt;p-&gt;data;</a:t>
            </a:r>
          </a:p>
          <a:p>
            <a:pPr marL="0" indent="0" algn="just">
              <a:buNone/>
            </a:pPr>
            <a:r>
              <a:rPr lang="en-US" sz="1800" b="0" i="0" dirty="0">
                <a:solidFill>
                  <a:srgbClr val="000000"/>
                </a:solidFill>
                <a:effectLst/>
                <a:latin typeface="inter-regular"/>
              </a:rPr>
              <a:t>  p-&gt;next = NULL;</a:t>
            </a:r>
          </a:p>
          <a:p>
            <a:pPr marL="0" indent="0" algn="just">
              <a:buNone/>
            </a:pPr>
            <a:r>
              <a:rPr lang="en-US" sz="1800" dirty="0">
                <a:solidFill>
                  <a:srgbClr val="000000"/>
                </a:solidFill>
                <a:latin typeface="inter-regular"/>
              </a:rPr>
              <a:t>  delete p;</a:t>
            </a:r>
            <a:endParaRPr lang="en-IN" sz="1800" dirty="0"/>
          </a:p>
          <a:p>
            <a:pPr marL="0" indent="0">
              <a:buNone/>
            </a:pPr>
            <a:r>
              <a:rPr lang="en-IN" sz="1800" dirty="0"/>
              <a:t>}</a:t>
            </a:r>
          </a:p>
        </p:txBody>
      </p:sp>
      <p:pic>
        <p:nvPicPr>
          <p:cNvPr id="7170" name="Picture 2" descr="Deletion in Circular linked list - scanftree.com">
            <a:extLst>
              <a:ext uri="{FF2B5EF4-FFF2-40B4-BE49-F238E27FC236}">
                <a16:creationId xmlns:a16="http://schemas.microsoft.com/office/drawing/2014/main" id="{7ED566F0-6B0A-8859-CB76-FA7AC0AA2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478" y="2270443"/>
            <a:ext cx="6745956" cy="2504757"/>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619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0D827-45FB-A8F9-2BE1-1FB87955D097}"/>
              </a:ext>
            </a:extLst>
          </p:cNvPr>
          <p:cNvSpPr>
            <a:spLocks noGrp="1"/>
          </p:cNvSpPr>
          <p:nvPr>
            <p:ph type="title"/>
          </p:nvPr>
        </p:nvSpPr>
        <p:spPr>
          <a:xfrm>
            <a:off x="1738310" y="96520"/>
            <a:ext cx="10018713" cy="1051560"/>
          </a:xfrm>
        </p:spPr>
        <p:txBody>
          <a:bodyPr/>
          <a:lstStyle/>
          <a:p>
            <a:r>
              <a:rPr lang="en-IN" dirty="0">
                <a:solidFill>
                  <a:schemeClr val="accent5">
                    <a:lumMod val="75000"/>
                  </a:schemeClr>
                </a:solidFill>
              </a:rPr>
              <a:t>Pseudo code for deletion from specific position</a:t>
            </a:r>
          </a:p>
        </p:txBody>
      </p:sp>
      <p:sp>
        <p:nvSpPr>
          <p:cNvPr id="3" name="Content Placeholder 2">
            <a:extLst>
              <a:ext uri="{FF2B5EF4-FFF2-40B4-BE49-F238E27FC236}">
                <a16:creationId xmlns:a16="http://schemas.microsoft.com/office/drawing/2014/main" id="{073C98B0-2125-2135-3B72-AAA1E723D51E}"/>
              </a:ext>
            </a:extLst>
          </p:cNvPr>
          <p:cNvSpPr>
            <a:spLocks noGrp="1"/>
          </p:cNvSpPr>
          <p:nvPr>
            <p:ph idx="1"/>
          </p:nvPr>
        </p:nvSpPr>
        <p:spPr>
          <a:xfrm>
            <a:off x="1738310" y="1188720"/>
            <a:ext cx="9764713" cy="5709920"/>
          </a:xfrm>
        </p:spPr>
        <p:txBody>
          <a:bodyPr>
            <a:normAutofit fontScale="70000" lnSpcReduction="20000"/>
          </a:bodyPr>
          <a:lstStyle/>
          <a:p>
            <a:pPr marL="0" indent="0" algn="just">
              <a:buNone/>
            </a:pPr>
            <a:r>
              <a:rPr lang="en-US" sz="2400" dirty="0">
                <a:solidFill>
                  <a:srgbClr val="000000"/>
                </a:solidFill>
                <a:latin typeface="inter-regular"/>
              </a:rPr>
              <a:t>int </a:t>
            </a:r>
            <a:r>
              <a:rPr lang="en-US" sz="2400" dirty="0" err="1">
                <a:solidFill>
                  <a:srgbClr val="000000"/>
                </a:solidFill>
                <a:latin typeface="inter-regular"/>
              </a:rPr>
              <a:t>pos,count</a:t>
            </a:r>
            <a:r>
              <a:rPr lang="en-US" sz="2400" dirty="0">
                <a:solidFill>
                  <a:srgbClr val="000000"/>
                </a:solidFill>
                <a:latin typeface="inter-regular"/>
              </a:rPr>
              <a:t> = 1;</a:t>
            </a:r>
          </a:p>
          <a:p>
            <a:pPr marL="0" indent="0" algn="just">
              <a:buNone/>
            </a:pPr>
            <a:r>
              <a:rPr lang="en-US" sz="2400" dirty="0" err="1">
                <a:solidFill>
                  <a:srgbClr val="000000"/>
                </a:solidFill>
                <a:latin typeface="inter-regular"/>
              </a:rPr>
              <a:t>cin</a:t>
            </a:r>
            <a:r>
              <a:rPr lang="en-US" sz="2400" dirty="0">
                <a:solidFill>
                  <a:srgbClr val="000000"/>
                </a:solidFill>
                <a:latin typeface="inter-regular"/>
              </a:rPr>
              <a:t>&gt;&gt;pos;</a:t>
            </a:r>
            <a:endParaRPr lang="en-IN" sz="2400" dirty="0"/>
          </a:p>
          <a:p>
            <a:pPr marL="0" indent="0">
              <a:buNone/>
            </a:pPr>
            <a:r>
              <a:rPr lang="en-IN" sz="2400" dirty="0"/>
              <a:t>if(head == NULL)</a:t>
            </a:r>
          </a:p>
          <a:p>
            <a:pPr marL="0" indent="0">
              <a:buNone/>
            </a:pPr>
            <a:r>
              <a:rPr lang="en-IN" sz="2400" dirty="0"/>
              <a:t>     </a:t>
            </a:r>
            <a:r>
              <a:rPr lang="en-IN" sz="2400" dirty="0" err="1"/>
              <a:t>cout</a:t>
            </a:r>
            <a:r>
              <a:rPr lang="en-IN" sz="2400" dirty="0"/>
              <a:t>&lt;&lt;“The list is empty!”;</a:t>
            </a:r>
          </a:p>
          <a:p>
            <a:pPr marL="0" indent="0">
              <a:buNone/>
            </a:pPr>
            <a:r>
              <a:rPr lang="en-IN" sz="2400" dirty="0"/>
              <a:t>else</a:t>
            </a:r>
          </a:p>
          <a:p>
            <a:pPr marL="0" indent="0">
              <a:buNone/>
            </a:pPr>
            <a:r>
              <a:rPr lang="en-IN" sz="2400" dirty="0"/>
              <a:t>{</a:t>
            </a:r>
          </a:p>
          <a:p>
            <a:pPr marL="0" indent="0" algn="just">
              <a:buNone/>
            </a:pPr>
            <a:r>
              <a:rPr lang="en-US" sz="2400" dirty="0">
                <a:solidFill>
                  <a:srgbClr val="000000"/>
                </a:solidFill>
                <a:latin typeface="inter-regular"/>
              </a:rPr>
              <a:t>    node *q,*</a:t>
            </a:r>
            <a:r>
              <a:rPr lang="en-US" sz="2400" b="0" i="0" dirty="0">
                <a:solidFill>
                  <a:srgbClr val="000000"/>
                </a:solidFill>
                <a:effectLst/>
                <a:latin typeface="inter-regular"/>
              </a:rPr>
              <a:t>p = head;  </a:t>
            </a:r>
          </a:p>
          <a:p>
            <a:pPr marL="0" indent="0" algn="just">
              <a:buNone/>
            </a:pPr>
            <a:r>
              <a:rPr lang="en-US" sz="2400" dirty="0">
                <a:solidFill>
                  <a:srgbClr val="000000"/>
                </a:solidFill>
                <a:latin typeface="inter-regular"/>
              </a:rPr>
              <a:t>  while(p</a:t>
            </a:r>
            <a:r>
              <a:rPr lang="en-US" sz="2400" b="0" i="0" dirty="0">
                <a:solidFill>
                  <a:srgbClr val="000000"/>
                </a:solidFill>
                <a:effectLst/>
                <a:latin typeface="inter-regular"/>
              </a:rPr>
              <a:t>-&gt;next != head &amp;&amp; count != pos) </a:t>
            </a:r>
          </a:p>
          <a:p>
            <a:pPr marL="0" indent="0" algn="just">
              <a:buNone/>
            </a:pPr>
            <a:r>
              <a:rPr lang="en-US" sz="2400" dirty="0">
                <a:solidFill>
                  <a:srgbClr val="000000"/>
                </a:solidFill>
                <a:latin typeface="inter-regular"/>
              </a:rPr>
              <a:t>  {</a:t>
            </a:r>
          </a:p>
          <a:p>
            <a:pPr marL="0" indent="0" algn="just">
              <a:buNone/>
            </a:pPr>
            <a:r>
              <a:rPr lang="en-US" sz="2400" b="0" i="0" dirty="0">
                <a:solidFill>
                  <a:srgbClr val="000000"/>
                </a:solidFill>
                <a:effectLst/>
                <a:latin typeface="inter-regular"/>
              </a:rPr>
              <a:t>    q = p;                </a:t>
            </a:r>
          </a:p>
          <a:p>
            <a:pPr marL="0" indent="0" algn="just">
              <a:buNone/>
            </a:pPr>
            <a:r>
              <a:rPr lang="en-US" sz="2400" b="0" i="0" dirty="0">
                <a:solidFill>
                  <a:srgbClr val="000000"/>
                </a:solidFill>
                <a:effectLst/>
                <a:latin typeface="inter-regular"/>
              </a:rPr>
              <a:t>    p = p-&gt;next;         count++;</a:t>
            </a:r>
          </a:p>
          <a:p>
            <a:pPr marL="0" indent="0" algn="just">
              <a:buNone/>
            </a:pPr>
            <a:r>
              <a:rPr lang="en-US" sz="2400" dirty="0">
                <a:solidFill>
                  <a:srgbClr val="000000"/>
                </a:solidFill>
                <a:latin typeface="inter-regular"/>
              </a:rPr>
              <a:t>  }</a:t>
            </a:r>
          </a:p>
          <a:p>
            <a:pPr marL="0" indent="0" algn="just">
              <a:buNone/>
            </a:pPr>
            <a:r>
              <a:rPr lang="en-US" sz="2400" dirty="0">
                <a:solidFill>
                  <a:srgbClr val="000000"/>
                </a:solidFill>
                <a:latin typeface="inter-regular"/>
              </a:rPr>
              <a:t> q</a:t>
            </a:r>
            <a:r>
              <a:rPr lang="en-US" sz="2400" b="0" i="0" dirty="0">
                <a:solidFill>
                  <a:srgbClr val="000000"/>
                </a:solidFill>
                <a:effectLst/>
                <a:latin typeface="inter-regular"/>
              </a:rPr>
              <a:t>-&gt;next = p-&gt;next;</a:t>
            </a:r>
          </a:p>
          <a:p>
            <a:pPr marL="0" indent="0" algn="just">
              <a:buNone/>
            </a:pPr>
            <a:r>
              <a:rPr lang="en-US" sz="2400" dirty="0">
                <a:solidFill>
                  <a:srgbClr val="000000"/>
                </a:solidFill>
                <a:latin typeface="inter-regular"/>
              </a:rPr>
              <a:t> </a:t>
            </a:r>
            <a:r>
              <a:rPr lang="en-US" sz="2400" dirty="0" err="1">
                <a:solidFill>
                  <a:srgbClr val="000000"/>
                </a:solidFill>
                <a:latin typeface="inter-regular"/>
              </a:rPr>
              <a:t>cout</a:t>
            </a:r>
            <a:r>
              <a:rPr lang="en-US" sz="2400" dirty="0">
                <a:solidFill>
                  <a:srgbClr val="000000"/>
                </a:solidFill>
                <a:latin typeface="inter-regular"/>
              </a:rPr>
              <a:t>&lt;&lt;“The deleted element is: “&lt;&lt;p-&gt;data;</a:t>
            </a:r>
          </a:p>
          <a:p>
            <a:pPr marL="0" indent="0" algn="just">
              <a:buNone/>
            </a:pPr>
            <a:r>
              <a:rPr lang="en-US" sz="2400" b="0" i="0" dirty="0">
                <a:solidFill>
                  <a:srgbClr val="000000"/>
                </a:solidFill>
                <a:effectLst/>
                <a:latin typeface="inter-regular"/>
              </a:rPr>
              <a:t>  p-&gt;next = NULL;</a:t>
            </a:r>
          </a:p>
          <a:p>
            <a:pPr marL="0" indent="0" algn="just">
              <a:buNone/>
            </a:pPr>
            <a:r>
              <a:rPr lang="en-US" sz="2400" dirty="0">
                <a:solidFill>
                  <a:srgbClr val="000000"/>
                </a:solidFill>
                <a:latin typeface="inter-regular"/>
              </a:rPr>
              <a:t>  delete p;</a:t>
            </a:r>
            <a:endParaRPr lang="en-IN" sz="2400" dirty="0"/>
          </a:p>
          <a:p>
            <a:pPr marL="0" indent="0">
              <a:buNone/>
            </a:pPr>
            <a:r>
              <a:rPr lang="en-IN" dirty="0"/>
              <a:t>}</a:t>
            </a:r>
          </a:p>
        </p:txBody>
      </p:sp>
      <p:pic>
        <p:nvPicPr>
          <p:cNvPr id="8194" name="Picture 2" descr="c++ - Circular linked list: How to correct my remove node function? - Stack  Overflow">
            <a:extLst>
              <a:ext uri="{FF2B5EF4-FFF2-40B4-BE49-F238E27FC236}">
                <a16:creationId xmlns:a16="http://schemas.microsoft.com/office/drawing/2014/main" id="{E21D38CC-4417-9498-58B4-5BAECD16AD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436" y="2326640"/>
            <a:ext cx="6210199" cy="2225039"/>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79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C7F3-69AA-CBB9-F289-7F431C087A84}"/>
              </a:ext>
            </a:extLst>
          </p:cNvPr>
          <p:cNvSpPr>
            <a:spLocks noGrp="1"/>
          </p:cNvSpPr>
          <p:nvPr>
            <p:ph type="title"/>
          </p:nvPr>
        </p:nvSpPr>
        <p:spPr>
          <a:xfrm>
            <a:off x="1331911" y="86360"/>
            <a:ext cx="10018713" cy="980440"/>
          </a:xfrm>
        </p:spPr>
        <p:txBody>
          <a:bodyPr/>
          <a:lstStyle/>
          <a:p>
            <a:r>
              <a:rPr lang="en-IN" dirty="0">
                <a:solidFill>
                  <a:srgbClr val="C00000"/>
                </a:solidFill>
              </a:rPr>
              <a:t>Searching an element</a:t>
            </a:r>
          </a:p>
        </p:txBody>
      </p:sp>
      <p:sp>
        <p:nvSpPr>
          <p:cNvPr id="3" name="Content Placeholder 2">
            <a:extLst>
              <a:ext uri="{FF2B5EF4-FFF2-40B4-BE49-F238E27FC236}">
                <a16:creationId xmlns:a16="http://schemas.microsoft.com/office/drawing/2014/main" id="{8AF82B1A-C788-A2A0-962D-1894492445ED}"/>
              </a:ext>
            </a:extLst>
          </p:cNvPr>
          <p:cNvSpPr>
            <a:spLocks noGrp="1"/>
          </p:cNvSpPr>
          <p:nvPr>
            <p:ph idx="1"/>
          </p:nvPr>
        </p:nvSpPr>
        <p:spPr>
          <a:xfrm>
            <a:off x="1331912" y="1503680"/>
            <a:ext cx="10171112" cy="4815839"/>
          </a:xfrm>
        </p:spPr>
        <p:txBody>
          <a:bodyPr>
            <a:normAutofit fontScale="85000" lnSpcReduction="20000"/>
          </a:bodyPr>
          <a:lstStyle/>
          <a:p>
            <a:pPr algn="just"/>
            <a:r>
              <a:rPr lang="en-US" b="0" i="0" dirty="0">
                <a:solidFill>
                  <a:srgbClr val="333333"/>
                </a:solidFill>
                <a:effectLst/>
                <a:latin typeface="inter-regular"/>
              </a:rPr>
              <a:t>Searching in circular singly linked list needs traversing across the list. </a:t>
            </a:r>
          </a:p>
          <a:p>
            <a:pPr algn="just"/>
            <a:r>
              <a:rPr lang="en-US" b="0" i="0" dirty="0">
                <a:solidFill>
                  <a:srgbClr val="333333"/>
                </a:solidFill>
                <a:effectLst/>
                <a:latin typeface="inter-regular"/>
              </a:rPr>
              <a:t>The element which is to be searched in the list is matched with each node data of the list once and if the match found then the location of that item is returned otherwise -1 is returned.</a:t>
            </a:r>
          </a:p>
          <a:p>
            <a:pPr marL="0" indent="0" algn="just">
              <a:buNone/>
            </a:pPr>
            <a:endParaRPr lang="en-US" b="0" i="0" dirty="0">
              <a:solidFill>
                <a:srgbClr val="333333"/>
              </a:solidFill>
              <a:effectLst/>
              <a:latin typeface="inter-regular"/>
            </a:endParaRPr>
          </a:p>
          <a:p>
            <a:pPr marL="0" indent="0" algn="just">
              <a:buNone/>
            </a:pPr>
            <a:r>
              <a:rPr lang="en-IN" dirty="0"/>
              <a:t>  </a:t>
            </a:r>
            <a:r>
              <a:rPr lang="en-IN" b="1" u="sng" dirty="0"/>
              <a:t>Pseudo code</a:t>
            </a:r>
            <a:r>
              <a:rPr lang="en-IN" dirty="0"/>
              <a:t>:</a:t>
            </a:r>
          </a:p>
          <a:p>
            <a:pPr marL="0" indent="0" algn="just">
              <a:buNone/>
            </a:pPr>
            <a:r>
              <a:rPr lang="en-US" sz="2400" dirty="0">
                <a:solidFill>
                  <a:srgbClr val="000000"/>
                </a:solidFill>
                <a:latin typeface="inter-regular"/>
              </a:rPr>
              <a:t>  int flag = 0,i = 0;</a:t>
            </a:r>
          </a:p>
          <a:p>
            <a:pPr marL="0" indent="0" algn="just">
              <a:buNone/>
            </a:pPr>
            <a:r>
              <a:rPr lang="en-US" sz="2400" dirty="0">
                <a:solidFill>
                  <a:srgbClr val="000000"/>
                </a:solidFill>
                <a:latin typeface="inter-regular"/>
              </a:rPr>
              <a:t>  int key;</a:t>
            </a:r>
          </a:p>
          <a:p>
            <a:pPr marL="0" indent="0" algn="just">
              <a:buNone/>
            </a:pPr>
            <a:r>
              <a:rPr lang="en-US" sz="2400" dirty="0">
                <a:solidFill>
                  <a:srgbClr val="000000"/>
                </a:solidFill>
                <a:latin typeface="inter-regular"/>
              </a:rPr>
              <a:t>  </a:t>
            </a:r>
            <a:r>
              <a:rPr lang="en-US" sz="2400" dirty="0" err="1">
                <a:solidFill>
                  <a:srgbClr val="000000"/>
                </a:solidFill>
                <a:latin typeface="inter-regular"/>
              </a:rPr>
              <a:t>cin</a:t>
            </a:r>
            <a:r>
              <a:rPr lang="en-US" sz="2400" dirty="0">
                <a:solidFill>
                  <a:srgbClr val="000000"/>
                </a:solidFill>
                <a:latin typeface="inter-regular"/>
              </a:rPr>
              <a:t>&gt;&gt;key;</a:t>
            </a:r>
          </a:p>
          <a:p>
            <a:pPr marL="0" indent="0">
              <a:buNone/>
            </a:pPr>
            <a:r>
              <a:rPr lang="en-IN" sz="2400" dirty="0"/>
              <a:t>  if(head == NULL)</a:t>
            </a:r>
          </a:p>
          <a:p>
            <a:pPr marL="0" indent="0">
              <a:buNone/>
            </a:pPr>
            <a:r>
              <a:rPr lang="en-IN" sz="2400" dirty="0"/>
              <a:t>      </a:t>
            </a:r>
            <a:r>
              <a:rPr lang="en-IN" sz="2400" dirty="0" err="1"/>
              <a:t>cout</a:t>
            </a:r>
            <a:r>
              <a:rPr lang="en-IN" sz="2400" dirty="0"/>
              <a:t>&lt;&lt;“The list is empty!”;</a:t>
            </a:r>
          </a:p>
          <a:p>
            <a:pPr marL="0" indent="0">
              <a:buNone/>
            </a:pPr>
            <a:r>
              <a:rPr lang="en-IN" dirty="0"/>
              <a:t>  else if(head-&gt;data == key)</a:t>
            </a:r>
          </a:p>
          <a:p>
            <a:pPr marL="0" indent="0">
              <a:buNone/>
            </a:pPr>
            <a:r>
              <a:rPr lang="en-IN" sz="2400" dirty="0"/>
              <a:t>       </a:t>
            </a:r>
            <a:r>
              <a:rPr lang="en-IN" sz="2400" dirty="0" err="1"/>
              <a:t>cout</a:t>
            </a:r>
            <a:r>
              <a:rPr lang="en-IN" sz="2400" dirty="0"/>
              <a:t>&lt;&lt;“Element is found at position-1”;</a:t>
            </a:r>
            <a:endParaRPr lang="en-US" sz="2400" dirty="0">
              <a:solidFill>
                <a:srgbClr val="000000"/>
              </a:solidFill>
              <a:latin typeface="inter-regular"/>
            </a:endParaRPr>
          </a:p>
          <a:p>
            <a:pPr marL="0" indent="0" algn="just">
              <a:buNone/>
            </a:pPr>
            <a:endParaRPr lang="en-US" sz="2400" dirty="0">
              <a:solidFill>
                <a:srgbClr val="000000"/>
              </a:solidFill>
              <a:latin typeface="inter-regular"/>
            </a:endParaRPr>
          </a:p>
        </p:txBody>
      </p:sp>
    </p:spTree>
    <p:extLst>
      <p:ext uri="{BB962C8B-B14F-4D97-AF65-F5344CB8AC3E}">
        <p14:creationId xmlns:p14="http://schemas.microsoft.com/office/powerpoint/2010/main" val="1697475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8AC409-F34B-510A-D5EE-8FED1A7A1711}"/>
              </a:ext>
            </a:extLst>
          </p:cNvPr>
          <p:cNvSpPr>
            <a:spLocks noGrp="1"/>
          </p:cNvSpPr>
          <p:nvPr>
            <p:ph idx="1"/>
          </p:nvPr>
        </p:nvSpPr>
        <p:spPr>
          <a:xfrm>
            <a:off x="1838960" y="406400"/>
            <a:ext cx="9875520" cy="6451600"/>
          </a:xfrm>
        </p:spPr>
        <p:txBody>
          <a:bodyPr>
            <a:normAutofit fontScale="70000" lnSpcReduction="20000"/>
          </a:bodyPr>
          <a:lstStyle/>
          <a:p>
            <a:pPr marL="0" indent="0">
              <a:buNone/>
            </a:pPr>
            <a:r>
              <a:rPr lang="en-IN" sz="2500" dirty="0"/>
              <a:t>else</a:t>
            </a:r>
          </a:p>
          <a:p>
            <a:pPr marL="0" indent="0">
              <a:buNone/>
            </a:pPr>
            <a:r>
              <a:rPr lang="en-IN" sz="2500" dirty="0"/>
              <a:t>{</a:t>
            </a:r>
          </a:p>
          <a:p>
            <a:pPr marL="0" indent="0">
              <a:buNone/>
            </a:pPr>
            <a:r>
              <a:rPr lang="en-IN" sz="2500" dirty="0"/>
              <a:t>     node *p = head;</a:t>
            </a:r>
          </a:p>
          <a:p>
            <a:pPr marL="0" indent="0" algn="just">
              <a:buNone/>
            </a:pPr>
            <a:r>
              <a:rPr lang="en-IN" sz="2500" b="0" i="0" dirty="0">
                <a:solidFill>
                  <a:srgbClr val="000000"/>
                </a:solidFill>
                <a:effectLst/>
                <a:latin typeface="inter-regular"/>
              </a:rPr>
              <a:t>     </a:t>
            </a:r>
            <a:r>
              <a:rPr lang="en-IN" sz="2500" dirty="0">
                <a:solidFill>
                  <a:srgbClr val="000000"/>
                </a:solidFill>
                <a:latin typeface="inter-regular"/>
              </a:rPr>
              <a:t>w</a:t>
            </a:r>
            <a:r>
              <a:rPr lang="en-IN" sz="2500" b="0" i="0" dirty="0">
                <a:solidFill>
                  <a:srgbClr val="000000"/>
                </a:solidFill>
                <a:effectLst/>
                <a:latin typeface="inter-regular"/>
              </a:rPr>
              <a:t>hile(p-&gt;next != head)  </a:t>
            </a:r>
          </a:p>
          <a:p>
            <a:pPr marL="0" indent="0" algn="just">
              <a:buNone/>
            </a:pPr>
            <a:r>
              <a:rPr lang="en-IN" sz="2500" b="0" i="0" dirty="0">
                <a:solidFill>
                  <a:srgbClr val="000000"/>
                </a:solidFill>
                <a:effectLst/>
                <a:latin typeface="inter-regular"/>
              </a:rPr>
              <a:t>     {  </a:t>
            </a:r>
          </a:p>
          <a:p>
            <a:pPr marL="0" indent="0" algn="just">
              <a:buNone/>
            </a:pPr>
            <a:r>
              <a:rPr lang="en-IN" sz="2500" b="0" i="0" dirty="0">
                <a:solidFill>
                  <a:srgbClr val="000000"/>
                </a:solidFill>
                <a:effectLst/>
                <a:latin typeface="inter-regular"/>
              </a:rPr>
              <a:t>        if(p-&gt;data == key)  </a:t>
            </a:r>
          </a:p>
          <a:p>
            <a:pPr marL="0" indent="0" algn="just">
              <a:buNone/>
            </a:pPr>
            <a:r>
              <a:rPr lang="en-IN" sz="2500" b="0" i="0" dirty="0">
                <a:solidFill>
                  <a:srgbClr val="000000"/>
                </a:solidFill>
                <a:effectLst/>
                <a:latin typeface="inter-regular"/>
              </a:rPr>
              <a:t>        {  </a:t>
            </a:r>
          </a:p>
          <a:p>
            <a:pPr marL="0" indent="0" algn="just">
              <a:buNone/>
            </a:pPr>
            <a:r>
              <a:rPr lang="en-IN" sz="2500" b="0" i="0" dirty="0">
                <a:solidFill>
                  <a:srgbClr val="000000"/>
                </a:solidFill>
                <a:effectLst/>
                <a:latin typeface="inter-regular"/>
              </a:rPr>
              <a:t>            </a:t>
            </a:r>
            <a:r>
              <a:rPr lang="en-IN" sz="2500" dirty="0">
                <a:solidFill>
                  <a:srgbClr val="000000"/>
                </a:solidFill>
                <a:latin typeface="inter-regular"/>
              </a:rPr>
              <a:t> </a:t>
            </a:r>
            <a:r>
              <a:rPr lang="en-IN" sz="2500" b="0" i="0" dirty="0">
                <a:solidFill>
                  <a:srgbClr val="000000"/>
                </a:solidFill>
                <a:effectLst/>
                <a:latin typeface="inter-regular"/>
              </a:rPr>
              <a:t>flag=1;</a:t>
            </a:r>
          </a:p>
          <a:p>
            <a:pPr marL="0" indent="0" algn="just">
              <a:buNone/>
            </a:pPr>
            <a:r>
              <a:rPr lang="en-IN" sz="2500" b="0" i="0" dirty="0">
                <a:solidFill>
                  <a:srgbClr val="000000"/>
                </a:solidFill>
                <a:effectLst/>
                <a:latin typeface="inter-regular"/>
              </a:rPr>
              <a:t>             break;</a:t>
            </a:r>
          </a:p>
          <a:p>
            <a:pPr marL="0" indent="0" algn="just">
              <a:buNone/>
            </a:pPr>
            <a:r>
              <a:rPr lang="en-IN" sz="2500" b="0" i="0" dirty="0">
                <a:solidFill>
                  <a:srgbClr val="000000"/>
                </a:solidFill>
                <a:effectLst/>
                <a:latin typeface="inter-regular"/>
              </a:rPr>
              <a:t>         }  </a:t>
            </a:r>
          </a:p>
          <a:p>
            <a:pPr marL="0" indent="0" algn="just">
              <a:buNone/>
            </a:pPr>
            <a:r>
              <a:rPr lang="en-IN" sz="2500" b="0" i="0" dirty="0">
                <a:solidFill>
                  <a:srgbClr val="000000"/>
                </a:solidFill>
                <a:effectLst/>
                <a:latin typeface="inter-regular"/>
              </a:rPr>
              <a:t>          </a:t>
            </a:r>
            <a:r>
              <a:rPr lang="en-IN" sz="2500" b="0" i="0" dirty="0" err="1">
                <a:solidFill>
                  <a:srgbClr val="000000"/>
                </a:solidFill>
                <a:effectLst/>
                <a:latin typeface="inter-regular"/>
              </a:rPr>
              <a:t>i</a:t>
            </a:r>
            <a:r>
              <a:rPr lang="en-IN" sz="2500" b="0" i="0" dirty="0">
                <a:solidFill>
                  <a:srgbClr val="000000"/>
                </a:solidFill>
                <a:effectLst/>
                <a:latin typeface="inter-regular"/>
              </a:rPr>
              <a:t>++;  </a:t>
            </a:r>
          </a:p>
          <a:p>
            <a:pPr marL="0" indent="0" algn="just">
              <a:buNone/>
            </a:pPr>
            <a:r>
              <a:rPr lang="en-IN" sz="2500" b="0" i="0" dirty="0">
                <a:solidFill>
                  <a:srgbClr val="000000"/>
                </a:solidFill>
                <a:effectLst/>
                <a:latin typeface="inter-regular"/>
              </a:rPr>
              <a:t>          p = p -&gt; next;  </a:t>
            </a:r>
          </a:p>
          <a:p>
            <a:pPr marL="0" indent="0" algn="just">
              <a:buNone/>
            </a:pPr>
            <a:r>
              <a:rPr lang="en-IN" sz="2500" b="0" i="0" dirty="0">
                <a:solidFill>
                  <a:srgbClr val="000000"/>
                </a:solidFill>
                <a:effectLst/>
                <a:latin typeface="inter-regular"/>
              </a:rPr>
              <a:t>        }</a:t>
            </a:r>
          </a:p>
          <a:p>
            <a:pPr marL="0" indent="0" algn="just">
              <a:buNone/>
            </a:pPr>
            <a:r>
              <a:rPr lang="en-IN" sz="2500" b="0" i="0" dirty="0">
                <a:solidFill>
                  <a:srgbClr val="000000"/>
                </a:solidFill>
                <a:effectLst/>
                <a:latin typeface="inter-regular"/>
              </a:rPr>
              <a:t>        if(p-&gt;dat</a:t>
            </a:r>
            <a:r>
              <a:rPr lang="en-IN" sz="2500" dirty="0">
                <a:solidFill>
                  <a:srgbClr val="000000"/>
                </a:solidFill>
                <a:latin typeface="inter-regular"/>
              </a:rPr>
              <a:t>a == key || </a:t>
            </a:r>
            <a:r>
              <a:rPr lang="en-IN" sz="2500" b="0" i="0" dirty="0">
                <a:solidFill>
                  <a:srgbClr val="000000"/>
                </a:solidFill>
                <a:effectLst/>
                <a:latin typeface="inter-regular"/>
              </a:rPr>
              <a:t>flag == </a:t>
            </a:r>
            <a:r>
              <a:rPr lang="en-IN" sz="2500" dirty="0">
                <a:solidFill>
                  <a:srgbClr val="000000"/>
                </a:solidFill>
                <a:latin typeface="inter-regular"/>
              </a:rPr>
              <a:t>1</a:t>
            </a:r>
            <a:r>
              <a:rPr lang="en-IN" sz="2500" b="0" i="0" dirty="0">
                <a:solidFill>
                  <a:srgbClr val="000000"/>
                </a:solidFill>
                <a:effectLst/>
                <a:latin typeface="inter-regular"/>
              </a:rPr>
              <a:t>)</a:t>
            </a:r>
          </a:p>
          <a:p>
            <a:pPr marL="0" indent="0" algn="just">
              <a:buNone/>
            </a:pPr>
            <a:r>
              <a:rPr lang="en-IN" sz="2500" b="0" i="0" dirty="0">
                <a:solidFill>
                  <a:srgbClr val="000000"/>
                </a:solidFill>
                <a:effectLst/>
                <a:latin typeface="inter-regular"/>
              </a:rPr>
              <a:t>           </a:t>
            </a:r>
            <a:r>
              <a:rPr lang="en-IN" sz="2500" b="0" i="0" dirty="0" err="1">
                <a:solidFill>
                  <a:srgbClr val="000000"/>
                </a:solidFill>
                <a:effectLst/>
                <a:latin typeface="inter-regular"/>
              </a:rPr>
              <a:t>cout</a:t>
            </a:r>
            <a:r>
              <a:rPr lang="en-IN" sz="2500" b="0" i="0" dirty="0">
                <a:solidFill>
                  <a:srgbClr val="000000"/>
                </a:solidFill>
                <a:effectLst/>
                <a:latin typeface="inter-regular"/>
              </a:rPr>
              <a:t>&lt;&lt;“Element is found at position-”&lt;&lt;i+1;  </a:t>
            </a:r>
          </a:p>
          <a:p>
            <a:pPr marL="0" indent="0" algn="just">
              <a:buNone/>
            </a:pPr>
            <a:r>
              <a:rPr lang="en-IN" sz="2500" b="0" i="0" dirty="0">
                <a:solidFill>
                  <a:srgbClr val="000000"/>
                </a:solidFill>
                <a:effectLst/>
                <a:latin typeface="inter-regular"/>
              </a:rPr>
              <a:t>         else</a:t>
            </a:r>
          </a:p>
          <a:p>
            <a:pPr marL="0" indent="0" algn="just">
              <a:buNone/>
            </a:pPr>
            <a:r>
              <a:rPr lang="en-IN" sz="2500" b="0" i="0" dirty="0">
                <a:solidFill>
                  <a:srgbClr val="000000"/>
                </a:solidFill>
                <a:effectLst/>
                <a:latin typeface="inter-regular"/>
              </a:rPr>
              <a:t>           </a:t>
            </a:r>
            <a:r>
              <a:rPr lang="en-IN" sz="2500" b="0" i="0" dirty="0" err="1">
                <a:solidFill>
                  <a:srgbClr val="000000"/>
                </a:solidFill>
                <a:effectLst/>
                <a:latin typeface="inter-regular"/>
              </a:rPr>
              <a:t>cout</a:t>
            </a:r>
            <a:r>
              <a:rPr lang="en-IN" sz="2500" b="0" i="0" dirty="0">
                <a:solidFill>
                  <a:srgbClr val="000000"/>
                </a:solidFill>
                <a:effectLst/>
                <a:latin typeface="inter-regular"/>
              </a:rPr>
              <a:t>&lt;&lt;“Element is not found!\n”;</a:t>
            </a:r>
          </a:p>
          <a:p>
            <a:pPr marL="0" indent="0" algn="just">
              <a:buNone/>
            </a:pPr>
            <a:r>
              <a:rPr lang="en-IN" sz="2500" b="0" i="0" dirty="0">
                <a:solidFill>
                  <a:srgbClr val="000000"/>
                </a:solidFill>
                <a:effectLst/>
                <a:latin typeface="inter-regular"/>
              </a:rPr>
              <a:t>   }  </a:t>
            </a:r>
          </a:p>
          <a:p>
            <a:endParaRPr lang="en-IN" dirty="0"/>
          </a:p>
        </p:txBody>
      </p:sp>
      <p:pic>
        <p:nvPicPr>
          <p:cNvPr id="5" name="Picture 2" descr="Circular Singly Linked List - javatpoint">
            <a:extLst>
              <a:ext uri="{FF2B5EF4-FFF2-40B4-BE49-F238E27FC236}">
                <a16:creationId xmlns:a16="http://schemas.microsoft.com/office/drawing/2014/main" id="{BC7191B3-7024-2087-13B4-35195628D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6080" y="2045854"/>
            <a:ext cx="5770880" cy="2180444"/>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74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9596-34B1-6F94-9C21-377BA94240CC}"/>
              </a:ext>
            </a:extLst>
          </p:cNvPr>
          <p:cNvSpPr>
            <a:spLocks noGrp="1"/>
          </p:cNvSpPr>
          <p:nvPr>
            <p:ph type="title"/>
          </p:nvPr>
        </p:nvSpPr>
        <p:spPr>
          <a:xfrm>
            <a:off x="1829751" y="492761"/>
            <a:ext cx="9356409" cy="949959"/>
          </a:xfrm>
        </p:spPr>
        <p:txBody>
          <a:bodyPr/>
          <a:lstStyle/>
          <a:p>
            <a:r>
              <a:rPr lang="en-IN" dirty="0">
                <a:solidFill>
                  <a:srgbClr val="C00000"/>
                </a:solidFill>
              </a:rPr>
              <a:t>Traversal of circular linked list</a:t>
            </a:r>
          </a:p>
        </p:txBody>
      </p:sp>
      <p:sp>
        <p:nvSpPr>
          <p:cNvPr id="3" name="Content Placeholder 2">
            <a:extLst>
              <a:ext uri="{FF2B5EF4-FFF2-40B4-BE49-F238E27FC236}">
                <a16:creationId xmlns:a16="http://schemas.microsoft.com/office/drawing/2014/main" id="{E5398807-FE92-3652-C97F-9C3DD6A10F6A}"/>
              </a:ext>
            </a:extLst>
          </p:cNvPr>
          <p:cNvSpPr>
            <a:spLocks noGrp="1"/>
          </p:cNvSpPr>
          <p:nvPr>
            <p:ph idx="1"/>
          </p:nvPr>
        </p:nvSpPr>
        <p:spPr>
          <a:xfrm>
            <a:off x="1829751" y="1908232"/>
            <a:ext cx="9765663" cy="5249025"/>
          </a:xfrm>
        </p:spPr>
        <p:txBody>
          <a:bodyPr>
            <a:normAutofit fontScale="85000" lnSpcReduction="20000"/>
          </a:bodyPr>
          <a:lstStyle/>
          <a:p>
            <a:pPr marL="0" indent="0">
              <a:buNone/>
            </a:pPr>
            <a:r>
              <a:rPr lang="en-IN" sz="2000" dirty="0" err="1">
                <a:solidFill>
                  <a:srgbClr val="000000"/>
                </a:solidFill>
                <a:latin typeface="inter-regular"/>
              </a:rPr>
              <a:t>cout</a:t>
            </a:r>
            <a:r>
              <a:rPr lang="en-IN" sz="2000" dirty="0">
                <a:solidFill>
                  <a:srgbClr val="000000"/>
                </a:solidFill>
                <a:latin typeface="inter-regular"/>
              </a:rPr>
              <a:t>&lt;&lt;“The elements in circular linked list are:”;</a:t>
            </a:r>
          </a:p>
          <a:p>
            <a:pPr marL="0" indent="0">
              <a:buNone/>
            </a:pPr>
            <a:r>
              <a:rPr lang="en-IN" sz="2000" dirty="0">
                <a:solidFill>
                  <a:srgbClr val="000000"/>
                </a:solidFill>
                <a:latin typeface="inter-regular"/>
              </a:rPr>
              <a:t>node *p = head;</a:t>
            </a:r>
          </a:p>
          <a:p>
            <a:pPr marL="0" indent="0">
              <a:buNone/>
            </a:pPr>
            <a:r>
              <a:rPr lang="en-IN" sz="2000" dirty="0">
                <a:solidFill>
                  <a:srgbClr val="000000"/>
                </a:solidFill>
                <a:latin typeface="inter-regular"/>
              </a:rPr>
              <a:t>w</a:t>
            </a:r>
            <a:r>
              <a:rPr lang="en-IN" sz="2000" b="0" i="0" dirty="0">
                <a:solidFill>
                  <a:srgbClr val="000000"/>
                </a:solidFill>
                <a:effectLst/>
                <a:latin typeface="inter-regular"/>
              </a:rPr>
              <a:t>hile(p-&gt;next != head) </a:t>
            </a:r>
          </a:p>
          <a:p>
            <a:pPr marL="0" indent="0">
              <a:buNone/>
            </a:pPr>
            <a:r>
              <a:rPr lang="en-IN" sz="2000" dirty="0">
                <a:solidFill>
                  <a:srgbClr val="000000"/>
                </a:solidFill>
                <a:latin typeface="inter-regular"/>
              </a:rPr>
              <a:t>{</a:t>
            </a:r>
          </a:p>
          <a:p>
            <a:pPr marL="0" indent="0">
              <a:buNone/>
            </a:pPr>
            <a:r>
              <a:rPr lang="en-IN" sz="2000" dirty="0">
                <a:solidFill>
                  <a:srgbClr val="000000"/>
                </a:solidFill>
                <a:latin typeface="inter-regular"/>
              </a:rPr>
              <a:t>   </a:t>
            </a:r>
            <a:r>
              <a:rPr lang="en-IN" sz="2000" dirty="0" err="1">
                <a:solidFill>
                  <a:srgbClr val="000000"/>
                </a:solidFill>
                <a:latin typeface="inter-regular"/>
              </a:rPr>
              <a:t>cout</a:t>
            </a:r>
            <a:r>
              <a:rPr lang="en-IN" sz="2000" dirty="0">
                <a:solidFill>
                  <a:srgbClr val="000000"/>
                </a:solidFill>
                <a:latin typeface="inter-regular"/>
              </a:rPr>
              <a:t>&lt;&lt;p-&gt;data&lt;&lt;“  “;</a:t>
            </a:r>
          </a:p>
          <a:p>
            <a:pPr marL="0" indent="0">
              <a:buNone/>
            </a:pPr>
            <a:r>
              <a:rPr lang="en-IN" sz="2000" dirty="0">
                <a:solidFill>
                  <a:srgbClr val="000000"/>
                </a:solidFill>
                <a:latin typeface="inter-regular"/>
              </a:rPr>
              <a:t>   p = p-&gt;next;</a:t>
            </a:r>
          </a:p>
          <a:p>
            <a:pPr marL="0" indent="0">
              <a:buNone/>
            </a:pPr>
            <a:r>
              <a:rPr lang="en-IN" sz="2000" dirty="0">
                <a:solidFill>
                  <a:srgbClr val="000000"/>
                </a:solidFill>
                <a:latin typeface="inter-regular"/>
              </a:rPr>
              <a:t>}</a:t>
            </a:r>
          </a:p>
          <a:p>
            <a:pPr marL="0" indent="0">
              <a:buNone/>
            </a:pPr>
            <a:r>
              <a:rPr lang="en-IN" sz="2000" dirty="0" err="1">
                <a:solidFill>
                  <a:srgbClr val="000000"/>
                </a:solidFill>
                <a:latin typeface="inter-regular"/>
              </a:rPr>
              <a:t>cout</a:t>
            </a:r>
            <a:r>
              <a:rPr lang="en-IN" sz="2000" dirty="0">
                <a:solidFill>
                  <a:srgbClr val="000000"/>
                </a:solidFill>
                <a:latin typeface="inter-regular"/>
              </a:rPr>
              <a:t>&lt;&lt;p-&gt;data&lt;&lt;</a:t>
            </a:r>
            <a:r>
              <a:rPr lang="en-IN" sz="2000" dirty="0" err="1">
                <a:solidFill>
                  <a:srgbClr val="000000"/>
                </a:solidFill>
                <a:latin typeface="inter-regular"/>
              </a:rPr>
              <a:t>endl</a:t>
            </a:r>
            <a:r>
              <a:rPr lang="en-IN" sz="2000" dirty="0">
                <a:solidFill>
                  <a:srgbClr val="000000"/>
                </a:solidFill>
                <a:latin typeface="inter-regular"/>
              </a:rPr>
              <a:t>;</a:t>
            </a:r>
          </a:p>
          <a:p>
            <a:pPr marL="0" indent="0">
              <a:buNone/>
            </a:pPr>
            <a:r>
              <a:rPr lang="en-IN" sz="2000" dirty="0">
                <a:solidFill>
                  <a:srgbClr val="000000"/>
                </a:solidFill>
                <a:latin typeface="inter-regular"/>
              </a:rPr>
              <a:t>p = p-&gt;next;</a:t>
            </a:r>
          </a:p>
          <a:p>
            <a:pPr marL="0" indent="0">
              <a:buNone/>
            </a:pPr>
            <a:r>
              <a:rPr lang="en-IN" sz="2000" dirty="0">
                <a:solidFill>
                  <a:srgbClr val="000000"/>
                </a:solidFill>
                <a:latin typeface="inter-regular"/>
              </a:rPr>
              <a:t>w</a:t>
            </a:r>
            <a:r>
              <a:rPr lang="en-IN" sz="2000" b="0" i="0" dirty="0">
                <a:solidFill>
                  <a:srgbClr val="000000"/>
                </a:solidFill>
                <a:effectLst/>
                <a:latin typeface="inter-regular"/>
              </a:rPr>
              <a:t>hile(p-&gt;next != head) </a:t>
            </a:r>
          </a:p>
          <a:p>
            <a:pPr marL="0" indent="0">
              <a:buNone/>
            </a:pPr>
            <a:r>
              <a:rPr lang="en-IN" sz="2000" dirty="0">
                <a:solidFill>
                  <a:srgbClr val="000000"/>
                </a:solidFill>
                <a:latin typeface="inter-regular"/>
              </a:rPr>
              <a:t>{</a:t>
            </a:r>
          </a:p>
          <a:p>
            <a:pPr marL="0" indent="0">
              <a:buNone/>
            </a:pPr>
            <a:r>
              <a:rPr lang="en-IN" sz="2000" dirty="0">
                <a:solidFill>
                  <a:srgbClr val="000000"/>
                </a:solidFill>
                <a:latin typeface="inter-regular"/>
              </a:rPr>
              <a:t>   </a:t>
            </a:r>
            <a:r>
              <a:rPr lang="en-IN" sz="2000" dirty="0" err="1">
                <a:solidFill>
                  <a:srgbClr val="000000"/>
                </a:solidFill>
                <a:latin typeface="inter-regular"/>
              </a:rPr>
              <a:t>cout</a:t>
            </a:r>
            <a:r>
              <a:rPr lang="en-IN" sz="2000" dirty="0">
                <a:solidFill>
                  <a:srgbClr val="000000"/>
                </a:solidFill>
                <a:latin typeface="inter-regular"/>
              </a:rPr>
              <a:t>&lt;&lt;p-&gt;data&lt;&lt;“  “;</a:t>
            </a:r>
          </a:p>
          <a:p>
            <a:pPr marL="0" indent="0">
              <a:buNone/>
            </a:pPr>
            <a:r>
              <a:rPr lang="en-IN" sz="2000" dirty="0">
                <a:solidFill>
                  <a:srgbClr val="000000"/>
                </a:solidFill>
                <a:latin typeface="inter-regular"/>
              </a:rPr>
              <a:t>   p = p-&gt;next;</a:t>
            </a:r>
          </a:p>
          <a:p>
            <a:pPr marL="0" indent="0">
              <a:buNone/>
            </a:pPr>
            <a:r>
              <a:rPr lang="en-IN" sz="2000" dirty="0">
                <a:solidFill>
                  <a:srgbClr val="000000"/>
                </a:solidFill>
                <a:latin typeface="inter-regular"/>
              </a:rPr>
              <a:t>}</a:t>
            </a:r>
          </a:p>
          <a:p>
            <a:pPr marL="0" indent="0">
              <a:buNone/>
            </a:pPr>
            <a:r>
              <a:rPr lang="en-IN" sz="2000" dirty="0" err="1">
                <a:solidFill>
                  <a:srgbClr val="000000"/>
                </a:solidFill>
                <a:latin typeface="inter-regular"/>
              </a:rPr>
              <a:t>cout</a:t>
            </a:r>
            <a:r>
              <a:rPr lang="en-IN" sz="2000" dirty="0">
                <a:solidFill>
                  <a:srgbClr val="000000"/>
                </a:solidFill>
                <a:latin typeface="inter-regular"/>
              </a:rPr>
              <a:t>&lt;&lt;p-&gt;data&lt;&lt;</a:t>
            </a:r>
            <a:r>
              <a:rPr lang="en-IN" sz="2000" dirty="0" err="1">
                <a:solidFill>
                  <a:srgbClr val="000000"/>
                </a:solidFill>
                <a:latin typeface="inter-regular"/>
              </a:rPr>
              <a:t>endl</a:t>
            </a:r>
            <a:r>
              <a:rPr lang="en-IN" sz="2000" dirty="0">
                <a:solidFill>
                  <a:srgbClr val="000000"/>
                </a:solidFill>
                <a:latin typeface="inter-regular"/>
              </a:rPr>
              <a:t>;</a:t>
            </a:r>
          </a:p>
          <a:p>
            <a:pPr marL="0" indent="0">
              <a:buNone/>
            </a:pPr>
            <a:endParaRPr lang="en-IN" sz="2000" dirty="0">
              <a:solidFill>
                <a:srgbClr val="000000"/>
              </a:solidFill>
              <a:latin typeface="inter-regular"/>
            </a:endParaRPr>
          </a:p>
          <a:p>
            <a:pPr marL="0" indent="0">
              <a:buNone/>
            </a:pPr>
            <a:endParaRPr lang="en-IN" sz="2000" dirty="0">
              <a:solidFill>
                <a:srgbClr val="000000"/>
              </a:solidFill>
              <a:latin typeface="inter-regular"/>
            </a:endParaRPr>
          </a:p>
          <a:p>
            <a:pPr marL="0" indent="0">
              <a:buNone/>
            </a:pPr>
            <a:endParaRPr lang="en-IN" sz="2000" dirty="0"/>
          </a:p>
        </p:txBody>
      </p:sp>
      <p:pic>
        <p:nvPicPr>
          <p:cNvPr id="9218" name="Picture 2" descr="Data Structures Tutorials - Circular Linked List with an example |  Implementation">
            <a:extLst>
              <a:ext uri="{FF2B5EF4-FFF2-40B4-BE49-F238E27FC236}">
                <a16:creationId xmlns:a16="http://schemas.microsoft.com/office/drawing/2014/main" id="{F4E20531-44B9-B31F-007E-E6AC7E168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8240" y="2915920"/>
            <a:ext cx="6978111" cy="2499360"/>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076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D12340-ECEE-E622-98DC-EB0198DAD387}"/>
              </a:ext>
            </a:extLst>
          </p:cNvPr>
          <p:cNvSpPr>
            <a:spLocks noGrp="1"/>
          </p:cNvSpPr>
          <p:nvPr>
            <p:ph idx="1"/>
          </p:nvPr>
        </p:nvSpPr>
        <p:spPr>
          <a:xfrm>
            <a:off x="1676400" y="1137921"/>
            <a:ext cx="9826623" cy="4653280"/>
          </a:xfrm>
          <a:ln w="28575">
            <a:solidFill>
              <a:schemeClr val="tx1"/>
            </a:solidFill>
          </a:ln>
        </p:spPr>
        <p:txBody>
          <a:bodyPr/>
          <a:lstStyle/>
          <a:p>
            <a:pPr marL="0" indent="0">
              <a:buNone/>
            </a:pPr>
            <a:r>
              <a:rPr lang="en-IN" dirty="0"/>
              <a:t>                                      </a:t>
            </a:r>
            <a:r>
              <a:rPr lang="en-IN" sz="6000" dirty="0">
                <a:solidFill>
                  <a:schemeClr val="accent5">
                    <a:lumMod val="50000"/>
                  </a:schemeClr>
                </a:solidFill>
              </a:rPr>
              <a:t>THANK  YOU</a:t>
            </a:r>
          </a:p>
        </p:txBody>
      </p:sp>
    </p:spTree>
    <p:extLst>
      <p:ext uri="{BB962C8B-B14F-4D97-AF65-F5344CB8AC3E}">
        <p14:creationId xmlns:p14="http://schemas.microsoft.com/office/powerpoint/2010/main" val="21755208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435</TotalTime>
  <Words>1220</Words>
  <Application>Microsoft Office PowerPoint</Application>
  <PresentationFormat>Widescreen</PresentationFormat>
  <Paragraphs>196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Corbel</vt:lpstr>
      <vt:lpstr>euclid_circular_a</vt:lpstr>
      <vt:lpstr>inter-regular</vt:lpstr>
      <vt:lpstr>Wingdings</vt:lpstr>
      <vt:lpstr>Parallax</vt:lpstr>
      <vt:lpstr>CIRCULAR SINGLY LINKED LIST</vt:lpstr>
      <vt:lpstr>Introduction</vt:lpstr>
      <vt:lpstr>Insertion operations</vt:lpstr>
      <vt:lpstr>PowerPoint Presentation</vt:lpstr>
      <vt:lpstr>   Pseudo code for insertion at beginning</vt:lpstr>
      <vt:lpstr>Pseudo code for insertion at end</vt:lpstr>
      <vt:lpstr>Pseudo code for insertion at specific position</vt:lpstr>
      <vt:lpstr>Deletion operations</vt:lpstr>
      <vt:lpstr>Pseudo code for deletion from beginning</vt:lpstr>
      <vt:lpstr>Pseudo code for deletion from end</vt:lpstr>
      <vt:lpstr>Pseudo code for deletion from specific position</vt:lpstr>
      <vt:lpstr>Searching an element</vt:lpstr>
      <vt:lpstr>PowerPoint Presentation</vt:lpstr>
      <vt:lpstr>Traversal of circular linked list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Sarath Chandra</dc:creator>
  <cp:lastModifiedBy>Sai Sarath Chandra</cp:lastModifiedBy>
  <cp:revision>6</cp:revision>
  <dcterms:created xsi:type="dcterms:W3CDTF">2022-09-14T08:17:01Z</dcterms:created>
  <dcterms:modified xsi:type="dcterms:W3CDTF">2022-09-22T08:52:13Z</dcterms:modified>
</cp:coreProperties>
</file>